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ised_assets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0"/>
            <a:ext cx="5742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F5F9FC">
              <a:alpha val="95000"/>
            </a:srgbClr>
          </a:solidFill>
          <a:ln w="12700">
            <a:solidFill>
              <a:srgbClr val="F5F9F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68580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정밀안전진단 판단 과정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94360" y="21031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원문을 근거로 손상 조사 → 평가 → 보수·유지관리까지 연결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94360" y="5257800"/>
            <a:ext cx="4892040" cy="566928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질문: “왜 다음 단계가 필요한가?”</a:t>
            </a:r>
            <a:endParaRPr lang="en-US" sz="14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먼저: 안전성은 좋지만 최종 B인 이유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7.1] 종합평가 결과 확대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5559552" cy="3182112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final_grade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31620"/>
            <a:ext cx="5486400" cy="2880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6451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7.2] B등급 정의 중 B행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466344" y="4828032"/>
            <a:ext cx="5559552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1" name="Image 1" descr="/mnt/data/revised_assets/grade_B_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146453"/>
            <a:ext cx="5486400" cy="57930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30352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09360" y="1463040"/>
            <a:ext cx="64008" cy="86868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1545336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상태평가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환산결함도 0.254 → b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손상·열화와 내구성 상태</a:t>
            </a:r>
            <a:endParaRPr lang="en-US" sz="1240" dirty="0"/>
          </a:p>
        </p:txBody>
      </p:sp>
      <p:sp>
        <p:nvSpPr>
          <p:cNvPr id="15" name="Shape 11"/>
          <p:cNvSpPr/>
          <p:nvPr/>
        </p:nvSpPr>
        <p:spPr>
          <a:xfrm>
            <a:off x="6309360" y="2514600"/>
            <a:ext cx="530352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2514600"/>
            <a:ext cx="64008" cy="86868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2596896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안전성평가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S.F 1.00 이상 → a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하중에 대한 구조 저항</a:t>
            </a:r>
            <a:endParaRPr lang="en-US" sz="1240" dirty="0"/>
          </a:p>
        </p:txBody>
      </p:sp>
      <p:sp>
        <p:nvSpPr>
          <p:cNvPr id="18" name="Text 14"/>
          <p:cNvSpPr/>
          <p:nvPr/>
        </p:nvSpPr>
        <p:spPr>
          <a:xfrm>
            <a:off x="6309360" y="3657600"/>
            <a:ext cx="5303520" cy="640080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b와 a 중 낮은 결과 적용 → 최종 B</a:t>
            </a:r>
            <a:endParaRPr lang="en-US" sz="1420" dirty="0"/>
          </a:p>
        </p:txBody>
      </p:sp>
      <p:sp>
        <p:nvSpPr>
          <p:cNvPr id="19" name="Shape 15"/>
          <p:cNvSpPr/>
          <p:nvPr/>
        </p:nvSpPr>
        <p:spPr>
          <a:xfrm>
            <a:off x="6309360" y="4526280"/>
            <a:ext cx="5303520" cy="1051560"/>
          </a:xfrm>
          <a:prstGeom prst="roundRect">
            <a:avLst>
              <a:gd name="adj" fmla="val 9565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09360" y="4526280"/>
            <a:ext cx="64008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46520" y="4608576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B등급의 뜻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발휘에는 지장이 없지만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내구성 증진을 위한 일부 보수가 필요한 상태</a:t>
            </a:r>
            <a:endParaRPr lang="en-US" sz="1240" dirty="0"/>
          </a:p>
        </p:txBody>
      </p:sp>
      <p:sp>
        <p:nvSpPr>
          <p:cNvPr id="22" name="Text 18"/>
          <p:cNvSpPr/>
          <p:nvPr/>
        </p:nvSpPr>
        <p:spPr>
          <a:xfrm>
            <a:off x="6309360" y="5779008"/>
            <a:ext cx="5303520" cy="438912"/>
          </a:xfrm>
          <a:prstGeom prst="rect">
            <a:avLst/>
          </a:prstGeom>
          <a:solidFill>
            <a:srgbClr val="F2F8FE"/>
          </a:solidFill>
          <a:ln w="13970">
            <a:solidFill>
              <a:srgbClr val="C039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“안전성 만족” ≠ “보수 불필요”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제7장 PDF 4~5쪽, 표 7.1·7.2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지도: 같은 자료가 서로 다른 질문으로 나뉜다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원 흐름도 일부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3182112" cy="4965192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flow_ch1_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989"/>
            <a:ext cx="3108960" cy="32227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069080" y="1325880"/>
            <a:ext cx="3886200" cy="502920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자료수집·현장조사·시험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1828800"/>
            <a:ext cx="-731520" cy="73152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035040" y="1828800"/>
            <a:ext cx="0" cy="73152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315200" y="1828800"/>
            <a:ext cx="822960" cy="73152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3657600" y="2578608"/>
            <a:ext cx="2057400" cy="777240"/>
          </a:xfrm>
          <a:prstGeom prst="rect">
            <a:avLst/>
          </a:prstGeom>
          <a:solidFill>
            <a:srgbClr val="EAF4FC"/>
          </a:solidFill>
          <a:ln w="12700">
            <a:solidFill>
              <a:srgbClr val="E9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상태평가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“얼마나 손상?”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15000" y="2578608"/>
            <a:ext cx="2057400" cy="777240"/>
          </a:xfrm>
          <a:prstGeom prst="rect">
            <a:avLst/>
          </a:prstGeom>
          <a:solidFill>
            <a:srgbClr val="EAF4FC"/>
          </a:solidFill>
          <a:ln w="12700">
            <a:solidFill>
              <a:srgbClr val="1A8A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안전성평가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“하중을 견디나?”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2578608"/>
            <a:ext cx="2057400" cy="777240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내진성능평가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“지진 성능은?”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3355848"/>
            <a:ext cx="731520" cy="621792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739128" y="3355848"/>
            <a:ext cx="-612648" cy="621792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796528" y="3355848"/>
            <a:ext cx="0" cy="621792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4572000" y="3977640"/>
            <a:ext cx="2743200" cy="658368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종합평가·안전등급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35240" y="3977640"/>
            <a:ext cx="2331720" cy="658368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내진보강 필요 여부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943600" y="4617720"/>
            <a:ext cx="731520" cy="50292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796528" y="4617720"/>
            <a:ext cx="-841248" cy="50292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5897880" y="5120640"/>
            <a:ext cx="3200400" cy="640080"/>
          </a:xfrm>
          <a:prstGeom prst="rect">
            <a:avLst/>
          </a:prstGeom>
          <a:solidFill>
            <a:srgbClr val="EAF4FC"/>
          </a:solidFill>
          <a:ln w="12700">
            <a:solidFill>
              <a:srgbClr val="E9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보수·보강·유지관리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498080" y="5760720"/>
            <a:ext cx="0" cy="484632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498080" y="6245352"/>
            <a:ext cx="-3291840" cy="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206240" y="6245352"/>
            <a:ext cx="0" cy="-4690872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4617720" y="598932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기록·추적 결과는 다음 진단의 자료가 된다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10012680" y="1371600"/>
            <a:ext cx="1691640" cy="2011680"/>
          </a:xfrm>
          <a:prstGeom prst="roundRect">
            <a:avLst>
              <a:gd name="adj" fmla="val 594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012680" y="1371600"/>
            <a:ext cx="64008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149840" y="1453896"/>
            <a:ext cx="1463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포인트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자료는 여러 평가에 동시에 쓰이고, 보수 결과는 다음 진단의 자료가 된다.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흐름도 기반 발표용 재구성</a:t>
            </a:r>
            <a:endParaRPr lang="en-US" sz="6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진단하는가? — 5,026m의 복합 복개구조물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1.3] 시설물 현황 확대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4736592" cy="4965192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overview_key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83343"/>
            <a:ext cx="4663440" cy="335999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32120" y="1417320"/>
            <a:ext cx="2971800" cy="1874520"/>
          </a:xfrm>
          <a:prstGeom prst="roundRect">
            <a:avLst>
              <a:gd name="adj" fmla="val 536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32120" y="1417320"/>
            <a:ext cx="64008" cy="187452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1499616"/>
            <a:ext cx="27432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보고서에서 확인한 것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총연장 L=5,026m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1공구: RC라멘 + BOX암거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2·3공구: RC라멘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기초형식은 존치·보강·신설 구간별 상이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732520" y="1600200"/>
            <a:ext cx="2743200" cy="960120"/>
          </a:xfrm>
          <a:prstGeom prst="roundRect">
            <a:avLst>
              <a:gd name="adj" fmla="val 1047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32520" y="1600200"/>
            <a:ext cx="64008" cy="96012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0" y="1682496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좌안 기준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하천 좌·우는 물이 흘러가는 방향을 바라볼 때 정한다. 좌안은 그 기준의 왼쪽 기슭이다.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532120" y="3703320"/>
            <a:ext cx="5943600" cy="1051560"/>
          </a:xfrm>
          <a:prstGeom prst="roundRect">
            <a:avLst>
              <a:gd name="adj" fmla="val 9565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32120" y="3703320"/>
            <a:ext cx="64008" cy="105156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3785616"/>
            <a:ext cx="5715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구조형식이 중요할까?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 대표 구조만 보고 전체를 평가할 수 없다. 조사 위치와 구조해석 조건도 구간별로 달라져야 한다.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5532120" y="5166360"/>
            <a:ext cx="5943600" cy="566928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복개 = 하천 위를 구조물로 덮어 상부를 도로 등으로 사용하는 형식</a:t>
            </a:r>
            <a:endParaRPr lang="en-US" sz="1240" dirty="0"/>
          </a:p>
        </p:txBody>
      </p:sp>
      <p:sp>
        <p:nvSpPr>
          <p:cNvPr id="19" name="Shape 16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제1장 PDF 7쪽, 표 1.3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정밀안전진단이 필요한가? — 사진만으로는 판단할 수 없다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손상 사례: 철근노출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3730752" cy="496519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rebar_pag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73283"/>
            <a:ext cx="3657600" cy="41801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6280" y="1417320"/>
            <a:ext cx="3474720" cy="1600200"/>
          </a:xfrm>
          <a:prstGeom prst="roundRect">
            <a:avLst>
              <a:gd name="adj" fmla="val 628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417320"/>
            <a:ext cx="64008" cy="160020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499616"/>
            <a:ext cx="32461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사진만으로 알 수 없는 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손상인가, 내부까지 이어지는가?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멈춘 손상인가, 진행 중인가?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하중 저항능력에도 영향이 있는가?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63440" y="3429000"/>
            <a:ext cx="1280160" cy="502920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0" y="3685032"/>
            <a:ext cx="548640" cy="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6492240" y="3429000"/>
            <a:ext cx="1280160" cy="502920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72400" y="3685032"/>
            <a:ext cx="548640" cy="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8321040" y="3429000"/>
            <a:ext cx="1280160" cy="502920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601200" y="3685032"/>
            <a:ext cx="548640" cy="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10149840" y="3429000"/>
            <a:ext cx="1280160" cy="502920"/>
          </a:xfrm>
          <a:prstGeom prst="rect">
            <a:avLst/>
          </a:prstGeom>
          <a:solidFill>
            <a:srgbClr val="EAF4FC"/>
          </a:solidFill>
          <a:ln w="12700">
            <a:solidFill>
              <a:srgbClr val="E9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526280" y="4800600"/>
            <a:ext cx="6903720" cy="1097280"/>
          </a:xfrm>
          <a:prstGeom prst="roundRect">
            <a:avLst>
              <a:gd name="adj" fmla="val 91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26280" y="4800600"/>
            <a:ext cx="64008" cy="109728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4882896"/>
            <a:ext cx="66751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보고서가 답하려는 질문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상태는 어떤가?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하중을 견딜 수 있는가?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조치와 관리가 필요한가?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정밀안전진단의 목적: 상태·안전성·조치 필요성을 근거로 판단</a:t>
            </a:r>
            <a:endParaRPr lang="en-US" sz="6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하중은 어떤 길로 지반까지 전달되는가?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1371600" cy="502920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차량하중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1640" y="2011680"/>
            <a:ext cx="0" cy="50292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005840" y="2514600"/>
            <a:ext cx="1371600" cy="502920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91640" y="3017520"/>
            <a:ext cx="-822960" cy="54864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691640" y="3017520"/>
            <a:ext cx="822960" cy="54864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20040" y="3566160"/>
            <a:ext cx="1097280" cy="457200"/>
          </a:xfrm>
          <a:prstGeom prst="rect">
            <a:avLst/>
          </a:prstGeom>
          <a:solidFill>
            <a:srgbClr val="EAF4FC"/>
          </a:solidFill>
          <a:ln w="12700">
            <a:solidFill>
              <a:srgbClr val="1A8A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566160"/>
            <a:ext cx="1097280" cy="457200"/>
          </a:xfrm>
          <a:prstGeom prst="rect">
            <a:avLst/>
          </a:prstGeom>
          <a:solidFill>
            <a:srgbClr val="EAF4FC"/>
          </a:solidFill>
          <a:ln w="12700">
            <a:solidFill>
              <a:srgbClr val="1A8A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023360"/>
            <a:ext cx="822960" cy="54864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14600" y="4023360"/>
            <a:ext cx="-822960" cy="54864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" y="4572000"/>
            <a:ext cx="1371600" cy="502920"/>
          </a:xfrm>
          <a:prstGeom prst="rect">
            <a:avLst/>
          </a:prstGeom>
          <a:solidFill>
            <a:srgbClr val="EAF4FC"/>
          </a:solidFill>
          <a:ln w="12700">
            <a:solidFill>
              <a:srgbClr val="E9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91640" y="5074920"/>
            <a:ext cx="0" cy="50292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05840" y="5577840"/>
            <a:ext cx="1371600" cy="502920"/>
          </a:xfrm>
          <a:prstGeom prst="rect">
            <a:avLst/>
          </a:prstGeom>
          <a:solidFill>
            <a:srgbClr val="EAF4FC"/>
          </a:solidFill>
          <a:ln w="12700">
            <a:solidFill>
              <a:srgbClr val="E9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91840" y="1463040"/>
            <a:ext cx="3017520" cy="1325880"/>
          </a:xfrm>
          <a:prstGeom prst="roundRect">
            <a:avLst>
              <a:gd name="adj" fmla="val 758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463040"/>
            <a:ext cx="64008" cy="132588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545336"/>
            <a:ext cx="2788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하중이 같은 경로를 따라가지 않는다. 어떤 부재가 무엇을 받치고 연결되는지에 따라 손상의 의미가 달라진다.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11978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실제 모델링도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501384" y="1380744"/>
            <a:ext cx="5102352" cy="2359152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23" name="Image 0" descr="/mnt/data/revised_assets/safety_model_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529490"/>
            <a:ext cx="5029200" cy="206166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3291840" y="3246120"/>
            <a:ext cx="3017520" cy="1143000"/>
          </a:xfrm>
          <a:prstGeom prst="roundRect">
            <a:avLst>
              <a:gd name="adj" fmla="val 88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1840" y="3246120"/>
            <a:ext cx="64008" cy="114300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29000" y="3328416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 위치를 왜 기록하나?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균열이라도 슬래브 중앙, 보 지점부, 벽체에 있으면 받는 힘과 검토 항목이 달라진다.</a:t>
            </a:r>
            <a:endParaRPr lang="en-US" sz="1270" dirty="0"/>
          </a:p>
        </p:txBody>
      </p:sp>
      <p:sp>
        <p:nvSpPr>
          <p:cNvPr id="27" name="Text 24"/>
          <p:cNvSpPr/>
          <p:nvPr/>
        </p:nvSpPr>
        <p:spPr>
          <a:xfrm>
            <a:off x="6537960" y="4069080"/>
            <a:ext cx="5029200" cy="640080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 이름 암기보다 중요한 것: 그 부재가 하중 전달에서 맡는 역할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하중 전달 개념도 + 제5장 모델링도 기반</a:t>
            </a:r>
            <a:endParaRPr lang="en-US" sz="6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자료수집: 현재를 보기 전에 비교 기준을 만든다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2.1] 자료수집 목록 확대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4873752" cy="4965192"/>
          </a:xfrm>
          <a:prstGeom prst="roundRect">
            <a:avLst>
              <a:gd name="adj" fmla="val 1126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data_sources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8314"/>
            <a:ext cx="4800600" cy="48900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23560" y="1417320"/>
            <a:ext cx="5989320" cy="822960"/>
          </a:xfrm>
          <a:prstGeom prst="roundRect">
            <a:avLst>
              <a:gd name="adj" fmla="val 1222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23560" y="1417320"/>
            <a:ext cx="64008" cy="82296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499616"/>
            <a:ext cx="5760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어떻게 만들어졌나?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설계도면·계산서 → 부재치수, 철근, 연결조건, 설계조건</a:t>
            </a:r>
            <a:endParaRPr lang="en-US" sz="1240" dirty="0"/>
          </a:p>
        </p:txBody>
      </p:sp>
      <p:sp>
        <p:nvSpPr>
          <p:cNvPr id="12" name="Shape 9"/>
          <p:cNvSpPr/>
          <p:nvPr/>
        </p:nvSpPr>
        <p:spPr>
          <a:xfrm>
            <a:off x="5623560" y="2423160"/>
            <a:ext cx="5989320" cy="822960"/>
          </a:xfrm>
          <a:prstGeom prst="roundRect">
            <a:avLst>
              <a:gd name="adj" fmla="val 1222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23560" y="2423160"/>
            <a:ext cx="64008" cy="82296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2505456"/>
            <a:ext cx="5760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예전에는 어땠나?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점검·진단 → 기존 손상, 신규 손상, 진행성 비교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5623560" y="3429000"/>
            <a:ext cx="5989320" cy="822960"/>
          </a:xfrm>
          <a:prstGeom prst="roundRect">
            <a:avLst>
              <a:gd name="adj" fmla="val 1222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23560" y="3429000"/>
            <a:ext cx="64008" cy="82296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511296"/>
            <a:ext cx="5760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 무엇을 고쳤나?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보수·보강 이력 → 보수부 재손상·변경 구조 확인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5623560" y="4526280"/>
            <a:ext cx="5989320" cy="100584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23560" y="4526280"/>
            <a:ext cx="64008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4608576"/>
            <a:ext cx="5760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사소하지만 중요한 디테일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목록은 “필요한 자료”뿐 아니라 실제 확보 여부도 확인한다. 자료 부족은 뒤 평가범위를 제한할 수 있다.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5623560" y="5806440"/>
            <a:ext cx="5989320" cy="429768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기록 → 비교 기준 확보 → 현장조사 항목 선정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제2장 PDF 3쪽, 표 2.1</a:t>
            </a:r>
            <a:endParaRPr lang="en-US" sz="6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보수 이력은 현재 조사 체크리스트가 된다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2.49] 2018년 보수 이력 확대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4873752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data_history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759" y="1417320"/>
            <a:ext cx="3288922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3886200"/>
            <a:ext cx="1645920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886200"/>
            <a:ext cx="1645920" cy="73152"/>
          </a:xfrm>
          <a:prstGeom prst="rect">
            <a:avLst/>
          </a:prstGeom>
          <a:solidFill>
            <a:srgbClr val="0B63B5"/>
          </a:solidFill>
          <a:ln w="12700">
            <a:solidFill>
              <a:srgbClr val="0B63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39959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받침교체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88개소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606040" y="3886200"/>
            <a:ext cx="1645920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06040" y="3886200"/>
            <a:ext cx="1645920" cy="73152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33472" y="39959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기둥확대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44개소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23560" y="1417320"/>
            <a:ext cx="5989320" cy="822960"/>
          </a:xfrm>
          <a:prstGeom prst="roundRect">
            <a:avLst>
              <a:gd name="adj" fmla="val 1222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23560" y="1417320"/>
            <a:ext cx="64008" cy="822960"/>
          </a:xfrm>
          <a:prstGeom prst="rect">
            <a:avLst/>
          </a:prstGeom>
          <a:solidFill>
            <a:srgbClr val="0B63B5"/>
          </a:solidFill>
          <a:ln w="12700">
            <a:solidFill>
              <a:srgbClr val="0B63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1499616"/>
            <a:ext cx="5760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받침교체 → 현재 확인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 상태, 주변 콘크리트, 누수·배수 상태 재확인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5623560" y="2423160"/>
            <a:ext cx="5989320" cy="822960"/>
          </a:xfrm>
          <a:prstGeom prst="roundRect">
            <a:avLst>
              <a:gd name="adj" fmla="val 1222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23560" y="2423160"/>
            <a:ext cx="64008" cy="82296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2505456"/>
            <a:ext cx="5760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기둥확대 → 현재 확인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확대부 균열, 박락, 들뜸, 접합상태 재확인</a:t>
            </a:r>
            <a:endParaRPr lang="en-US" sz="1240" dirty="0"/>
          </a:p>
        </p:txBody>
      </p:sp>
      <p:sp>
        <p:nvSpPr>
          <p:cNvPr id="21" name="Shape 18"/>
          <p:cNvSpPr/>
          <p:nvPr/>
        </p:nvSpPr>
        <p:spPr>
          <a:xfrm>
            <a:off x="5623560" y="3520440"/>
            <a:ext cx="5989320" cy="914400"/>
          </a:xfrm>
          <a:prstGeom prst="roundRect">
            <a:avLst>
              <a:gd name="adj" fmla="val 110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23560" y="3520440"/>
            <a:ext cx="64008" cy="91440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3602736"/>
            <a:ext cx="5760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해석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보수기록은 성능 보증서가 아니라, 현재 어디를 다시 봐야 하는지 알려주는 지도다.</a:t>
            </a:r>
            <a:endParaRPr lang="en-US" sz="1240" dirty="0"/>
          </a:p>
        </p:txBody>
      </p:sp>
      <p:sp>
        <p:nvSpPr>
          <p:cNvPr id="24" name="Shape 21"/>
          <p:cNvSpPr/>
          <p:nvPr/>
        </p:nvSpPr>
        <p:spPr>
          <a:xfrm>
            <a:off x="5623560" y="4663440"/>
            <a:ext cx="5989320" cy="822960"/>
          </a:xfrm>
          <a:prstGeom prst="roundRect">
            <a:avLst>
              <a:gd name="adj" fmla="val 1222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23560" y="466344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60720" y="4745736"/>
            <a:ext cx="5760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표의 “3공구 받침 121개소” 같은 현황 값은 2018년 보수 이력과 분리해서 설명한다.</a:t>
            </a:r>
            <a:endParaRPr lang="en-US" sz="1210" dirty="0"/>
          </a:p>
        </p:txBody>
      </p:sp>
      <p:sp>
        <p:nvSpPr>
          <p:cNvPr id="27" name="Shape 24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제2장 PDF 60쪽, 표 2.49</a:t>
            </a:r>
            <a:endParaRPr lang="en-US" sz="6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현장조사: 손상을 “사진”이 아니라 데이터로 기록한다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손상 기록 사례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4736592" cy="4965192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rebar_pag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373" y="1417320"/>
            <a:ext cx="4280535" cy="4892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32120" y="1417320"/>
            <a:ext cx="2743200" cy="1280160"/>
          </a:xfrm>
          <a:prstGeom prst="roundRect">
            <a:avLst>
              <a:gd name="adj" fmla="val 785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32120" y="1417320"/>
            <a:ext cx="64008" cy="128016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1499616"/>
            <a:ext cx="2514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확인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손상인가?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위치·부재인가?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폭·길이·면적은 얼마인가?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0" y="2057400"/>
            <a:ext cx="548640" cy="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9006840" y="1417320"/>
            <a:ext cx="2560320" cy="1280160"/>
          </a:xfrm>
          <a:prstGeom prst="roundRect">
            <a:avLst>
              <a:gd name="adj" fmla="val 785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006840" y="1417320"/>
            <a:ext cx="64008" cy="128016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0" y="1499616"/>
            <a:ext cx="23317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엔지니어의 해석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원인은 무엇으로 보이는가?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시험이 필요한가?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532120" y="3154680"/>
            <a:ext cx="2743200" cy="1097280"/>
          </a:xfrm>
          <a:prstGeom prst="roundRect">
            <a:avLst>
              <a:gd name="adj" fmla="val 91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32120" y="3154680"/>
            <a:ext cx="64008" cy="109728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3236976"/>
            <a:ext cx="25146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판단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상태평가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보수공법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보수물량 산정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412480" y="3703320"/>
            <a:ext cx="548640" cy="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006840" y="3154680"/>
            <a:ext cx="2560320" cy="1097280"/>
          </a:xfrm>
          <a:prstGeom prst="roundRect">
            <a:avLst>
              <a:gd name="adj" fmla="val 91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006840" y="315468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0" y="3236976"/>
            <a:ext cx="2331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구분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현상·위치·수치는 관찰자료이고, 원인과 대책은 그 자료를 해석한 이후의 판단이다.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532120" y="5074920"/>
            <a:ext cx="6035040" cy="566928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“균열이 있다” → “어디에, 어떤 균열이, 얼마나 있는가”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현장조사 기록은 상태평가와 보수 물량의 출발점</a:t>
            </a:r>
            <a:endParaRPr lang="en-US" sz="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철근노출: 도면·사진·측정값을 연결해 판단한다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철근노출 위치·사진·철근탐사 확대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5285232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rebar_bottom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50382"/>
            <a:ext cx="5212080" cy="34315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0760" y="1417320"/>
            <a:ext cx="5303520" cy="731520"/>
          </a:xfrm>
          <a:prstGeom prst="roundRect">
            <a:avLst>
              <a:gd name="adj" fmla="val 1375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80760" y="1417320"/>
            <a:ext cx="64008" cy="73152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1499616"/>
            <a:ext cx="5074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어디인가?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2공구 상부슬래브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STA.3,300~3,390m</a:t>
            </a:r>
            <a:endParaRPr lang="en-US" sz="1240" dirty="0"/>
          </a:p>
        </p:txBody>
      </p:sp>
      <p:sp>
        <p:nvSpPr>
          <p:cNvPr id="12" name="Shape 9"/>
          <p:cNvSpPr/>
          <p:nvPr/>
        </p:nvSpPr>
        <p:spPr>
          <a:xfrm>
            <a:off x="6080760" y="2286000"/>
            <a:ext cx="5303520" cy="658368"/>
          </a:xfrm>
          <a:prstGeom prst="roundRect">
            <a:avLst>
              <a:gd name="adj" fmla="val 15278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0760" y="2286000"/>
            <a:ext cx="64008" cy="658368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2368296"/>
            <a:ext cx="5074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무엇이 보였나?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콘크리트 박락과 철근노출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6080760" y="3063240"/>
            <a:ext cx="5303520" cy="777240"/>
          </a:xfrm>
          <a:prstGeom prst="roundRect">
            <a:avLst>
              <a:gd name="adj" fmla="val 12941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3063240"/>
            <a:ext cx="64008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314553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무엇을 측정했나?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피복 약 19mm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피복 59mm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6263640" y="4160520"/>
            <a:ext cx="3474720" cy="228600"/>
          </a:xfrm>
          <a:prstGeom prst="rect">
            <a:avLst/>
          </a:prstGeom>
          <a:solidFill>
            <a:srgbClr val="D8EAF8"/>
          </a:solidFill>
          <a:ln w="12700">
            <a:solidFill>
              <a:srgbClr val="D8EA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29800" y="40873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59mm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63640" y="4590288"/>
            <a:ext cx="1124712" cy="22860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52360" y="45171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19mm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80760" y="5074920"/>
            <a:ext cx="5303520" cy="502920"/>
          </a:xfrm>
          <a:prstGeom prst="rect">
            <a:avLst/>
          </a:prstGeom>
          <a:solidFill>
            <a:srgbClr val="F2F8FE"/>
          </a:solidFill>
          <a:ln w="13970">
            <a:solidFill>
              <a:srgbClr val="C039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59 ≈ 32% → 약 68% 부족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080760" y="5715000"/>
            <a:ext cx="5303520" cy="438912"/>
          </a:xfrm>
          <a:prstGeom prst="roundRect">
            <a:avLst>
              <a:gd name="adj" fmla="val 2291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80760" y="5715000"/>
            <a:ext cx="64008" cy="43891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579729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피복 부족은 내구성 문제의 근거이지, 즉시 구조내력 부족이라는 뜻은 아니다.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제3장 2공구 PDF 8쪽, 본문 196쪽</a:t>
            </a:r>
            <a:endParaRPr lang="en-US" sz="6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강도가 충분해도 철근 보호환경은 따로 확인한다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강도시험 근거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2816352" cy="1490472"/>
          </a:xfrm>
          <a:prstGeom prst="roundRect">
            <a:avLst>
              <a:gd name="adj" fmla="val 3681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durability_strength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299" y="1417320"/>
            <a:ext cx="2074441" cy="1417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0266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탄산화 표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466344" y="3209544"/>
            <a:ext cx="2816352" cy="2953512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1" name="Image 1" descr="/mnt/data/revised_assets/carbonation_table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00298"/>
            <a:ext cx="2743200" cy="17720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11978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염화물 표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3483864" y="1380744"/>
            <a:ext cx="2816352" cy="4782312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4" name="Image 2" descr="/mnt/data/revised_assets/chloride_table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817743"/>
            <a:ext cx="2743200" cy="1908313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537960" y="1417320"/>
            <a:ext cx="507492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537960" y="1417320"/>
            <a:ext cx="64008" cy="68580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675120" y="149961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강도시험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콘크리트가 압축을 얼마나 버티는가?</a:t>
            </a:r>
            <a:endParaRPr lang="en-US" sz="1240" dirty="0"/>
          </a:p>
        </p:txBody>
      </p:sp>
      <p:sp>
        <p:nvSpPr>
          <p:cNvPr id="18" name="Shape 13"/>
          <p:cNvSpPr/>
          <p:nvPr/>
        </p:nvSpPr>
        <p:spPr>
          <a:xfrm>
            <a:off x="6537960" y="2331720"/>
            <a:ext cx="5074920" cy="960120"/>
          </a:xfrm>
          <a:prstGeom prst="roundRect">
            <a:avLst>
              <a:gd name="adj" fmla="val 1047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37960" y="2331720"/>
            <a:ext cx="64008" cy="96012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75120" y="2414016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탄산화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피복 69.0mm - 탄산화 16.7mm = 잔여 52.3mm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철근까지 보호깊이가 남아 있는지 확인</a:t>
            </a:r>
            <a:endParaRPr lang="en-US" sz="1240" dirty="0"/>
          </a:p>
        </p:txBody>
      </p:sp>
      <p:sp>
        <p:nvSpPr>
          <p:cNvPr id="21" name="Shape 16"/>
          <p:cNvSpPr/>
          <p:nvPr/>
        </p:nvSpPr>
        <p:spPr>
          <a:xfrm>
            <a:off x="6537960" y="3520440"/>
            <a:ext cx="5074920" cy="777240"/>
          </a:xfrm>
          <a:prstGeom prst="roundRect">
            <a:avLst>
              <a:gd name="adj" fmla="val 12941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37960" y="3520440"/>
            <a:ext cx="64008" cy="77724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75120" y="36027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염화물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철근 주변에 부식을 촉진할 염화물이 얼마나 있는지 확인</a:t>
            </a:r>
            <a:endParaRPr lang="en-US" sz="1240" dirty="0"/>
          </a:p>
        </p:txBody>
      </p:sp>
      <p:sp>
        <p:nvSpPr>
          <p:cNvPr id="24" name="Text 19"/>
          <p:cNvSpPr/>
          <p:nvPr/>
        </p:nvSpPr>
        <p:spPr>
          <a:xfrm>
            <a:off x="6537960" y="4709160"/>
            <a:ext cx="5074920" cy="530352"/>
          </a:xfrm>
          <a:prstGeom prst="rect">
            <a:avLst/>
          </a:prstGeom>
          <a:solidFill>
            <a:srgbClr val="F2F8FE"/>
          </a:solidFill>
          <a:ln w="13970">
            <a:solidFill>
              <a:srgbClr val="C039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강도 양호 ≠ 장기 부식환경 자동 양호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537960" y="5440680"/>
            <a:ext cx="507492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537960" y="5440680"/>
            <a:ext cx="64008" cy="68580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675120" y="55229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탄산화 a, 염화물 b는 개별 시험항목 평가다. 최종 안전등급 A/B와 섞어 읽지 않는다.</a:t>
            </a:r>
            <a:endParaRPr lang="en-US" sz="1170" dirty="0"/>
          </a:p>
        </p:txBody>
      </p:sp>
      <p:sp>
        <p:nvSpPr>
          <p:cNvPr id="28" name="Shape 23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제3장 내구성 PDF 39·42쪽, 표 3.31·3.34</a:t>
            </a:r>
            <a:endParaRPr lang="en-US" sz="6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균열이 진행되지 않아도 보수할 수 있다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균열폭·깊이·피복두께 측정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4965192" cy="3090672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crack_depth_tabl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3" y="1417320"/>
            <a:ext cx="3795474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97880" y="1508760"/>
            <a:ext cx="2103120" cy="2743200"/>
          </a:xfrm>
          <a:prstGeom prst="rect">
            <a:avLst/>
          </a:prstGeom>
          <a:solidFill>
            <a:srgbClr val="EFEFE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508760"/>
            <a:ext cx="0" cy="288036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3246120"/>
            <a:ext cx="1234440" cy="16459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균열깊이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80.2mm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0" y="34564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철근 위치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피복 72.0mm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8412480" y="1417320"/>
            <a:ext cx="2926080" cy="1143000"/>
          </a:xfrm>
          <a:prstGeom prst="roundRect">
            <a:avLst>
              <a:gd name="adj" fmla="val 88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0" y="1417320"/>
            <a:ext cx="64008" cy="114300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1499616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0K304 핵심값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균열폭 0.3mm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균열깊이 80.2mm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피복두께 72.0mm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12480" y="2788920"/>
            <a:ext cx="2926080" cy="502920"/>
          </a:xfrm>
          <a:prstGeom prst="rect">
            <a:avLst/>
          </a:prstGeom>
          <a:solidFill>
            <a:srgbClr val="F2F8FE"/>
          </a:solidFill>
          <a:ln w="13970">
            <a:solidFill>
              <a:srgbClr val="C039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80.2mm &gt; 72.0mm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897880" y="4572000"/>
            <a:ext cx="5440680" cy="914400"/>
          </a:xfrm>
          <a:prstGeom prst="roundRect">
            <a:avLst>
              <a:gd name="adj" fmla="val 110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97880" y="4572000"/>
            <a:ext cx="64008" cy="91440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0" y="4654296"/>
            <a:ext cx="5212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판단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측정기간 진행성은 없었지만, 깊은 균열은 수분·유해물질의 침투경로가 될 수 있어 장기 내구성 확보를 위한 주입보수를 제안했다.</a:t>
            </a:r>
            <a:endParaRPr lang="en-US" sz="1230" dirty="0"/>
          </a:p>
        </p:txBody>
      </p:sp>
      <p:sp>
        <p:nvSpPr>
          <p:cNvPr id="21" name="Shape 18"/>
          <p:cNvSpPr/>
          <p:nvPr/>
        </p:nvSpPr>
        <p:spPr>
          <a:xfrm>
            <a:off x="5897880" y="5669280"/>
            <a:ext cx="5440680" cy="438912"/>
          </a:xfrm>
          <a:prstGeom prst="roundRect">
            <a:avLst>
              <a:gd name="adj" fmla="val 2291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97880" y="5669280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57515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&gt; 피복은 철근 부식 확인과 같은 뜻이 아니다.</a:t>
            </a:r>
            <a:endParaRPr lang="en-US" sz="1180" dirty="0"/>
          </a:p>
        </p:txBody>
      </p:sp>
      <p:sp>
        <p:nvSpPr>
          <p:cNvPr id="24" name="Shape 21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제3장 내구성 PDF 43쪽, 표 3.36</a:t>
            </a:r>
            <a:endParaRPr lang="en-US" sz="6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상태평가: 서로 다른 손상을 하나의 체계로 바꾼다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범위 표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2999232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state_criteria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41904"/>
            <a:ext cx="2926080" cy="145395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6667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산정 흐름 예시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466344" y="3849624"/>
            <a:ext cx="2999232" cy="2130552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1" name="Image 1" descr="/mnt/data/revised_assets/state_flow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06098"/>
            <a:ext cx="2926080" cy="14176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886200" y="1417320"/>
            <a:ext cx="3794760" cy="804672"/>
          </a:xfrm>
          <a:prstGeom prst="roundRect">
            <a:avLst>
              <a:gd name="adj" fmla="val 125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886200" y="1417320"/>
            <a:ext cx="64008" cy="80467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23360" y="149961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손상 정량화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균열폭·길이, 철근노출 면적, 탄산화 깊이, 염화물량 등을 측정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86200" y="2395728"/>
            <a:ext cx="3794760" cy="804672"/>
          </a:xfrm>
          <a:prstGeom prst="roundRect">
            <a:avLst>
              <a:gd name="adj" fmla="val 125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886200" y="2395728"/>
            <a:ext cx="64008" cy="804672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023360" y="247802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손상별 기준 비교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단위가 다른 측정값을 각 기준표에 대입해 공통 평가체계로 환산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3886200" y="3374136"/>
            <a:ext cx="3794760" cy="713232"/>
          </a:xfrm>
          <a:prstGeom prst="roundRect">
            <a:avLst>
              <a:gd name="adj" fmla="val 14103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86200" y="3374136"/>
            <a:ext cx="64008" cy="713232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023360" y="34564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부재·경간·공구별 종합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부재와 구간의 손상 결과를 종합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886200" y="4251960"/>
            <a:ext cx="3794760" cy="804672"/>
          </a:xfrm>
          <a:prstGeom prst="roundRect">
            <a:avLst>
              <a:gd name="adj" fmla="val 125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886200" y="4251960"/>
            <a:ext cx="64008" cy="80467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023360" y="433425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가중치 적용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부재별 중요도와 구간 비중을 반영해 전체 상태점수 산정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001000" y="1600200"/>
            <a:ext cx="3520440" cy="749808"/>
          </a:xfrm>
          <a:prstGeom prst="rect">
            <a:avLst/>
          </a:prstGeom>
          <a:solidFill>
            <a:srgbClr val="F2F8FE"/>
          </a:solidFill>
          <a:ln w="13970">
            <a:solidFill>
              <a:srgbClr val="C039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결함도 점수 = 평가 지표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파손률이 아니다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8001000" y="2788920"/>
            <a:ext cx="3520440" cy="594360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상태평가 ≠ 하중저항능력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8001000" y="3794760"/>
            <a:ext cx="3520440" cy="1234440"/>
          </a:xfrm>
          <a:prstGeom prst="roundRect">
            <a:avLst>
              <a:gd name="adj" fmla="val 8148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001000" y="3794760"/>
            <a:ext cx="64008" cy="123444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138160" y="3877056"/>
            <a:ext cx="3291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질문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손상과 열화 상태가 정리되었다. 그럼 검토 하중을 실제로 견딜 수 있는가? → 안전성평가로 이동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제4장 PDF 18쪽 및 상태평가 산정 흐름</a:t>
            </a:r>
            <a:endParaRPr lang="en-US" sz="6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2공구는 C인데 왜 전체는 B인가?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공구별·전체 상태평가 결과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4736592" cy="4965192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state_scores_tabl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7137"/>
            <a:ext cx="4663440" cy="46924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23560" y="1417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글자를 평균내는 것이 아니다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23560" y="1874520"/>
            <a:ext cx="5989320" cy="502920"/>
          </a:xfrm>
          <a:prstGeom prst="rect">
            <a:avLst/>
          </a:prstGeom>
          <a:solidFill>
            <a:srgbClr val="F7FBFF"/>
          </a:solidFill>
          <a:ln>
            <a:solidFill>
              <a:srgbClr val="C7D4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(0.194×1519 + 0.294×2109 + 0.258×1398) ÷ 5026 ≈ 0.254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897880" y="2971800"/>
            <a:ext cx="4983480" cy="0"/>
          </a:xfrm>
          <a:prstGeom prst="line">
            <a:avLst/>
          </a:prstGeom>
          <a:noFill/>
          <a:ln w="25400">
            <a:solidFill>
              <a:srgbClr val="C7D4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97880" y="2834640"/>
            <a:ext cx="0" cy="27432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3090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549640" y="2834640"/>
            <a:ext cx="0" cy="27432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75320" y="3090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75120" y="2697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범위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321040" y="2862072"/>
            <a:ext cx="164592" cy="164592"/>
          </a:xfrm>
          <a:prstGeom prst="ellipse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9560" y="24505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0.254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851392" y="2862072"/>
            <a:ext cx="164592" cy="164592"/>
          </a:xfrm>
          <a:prstGeom prst="ellipse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85632" y="333756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2공구 0.294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23560" y="3977640"/>
            <a:ext cx="5989320" cy="1234440"/>
          </a:xfrm>
          <a:prstGeom prst="roundRect">
            <a:avLst>
              <a:gd name="adj" fmla="val 8148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23560" y="3977640"/>
            <a:ext cx="6400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4059936"/>
            <a:ext cx="5760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B ≠ 모든 구간 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B ≠ 모든 부재 동일 보수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보수는 공구·부재·손상 위치로 돌아가 결정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23560" y="5532120"/>
            <a:ext cx="5989320" cy="502920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0.254는 25.4% 파손이라는 뜻이 아니다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제4장 PDF 32쪽, 표 4.42~4.45</a:t>
            </a:r>
            <a:endParaRPr lang="en-US" sz="6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구조를 어떻게 계산 가능한 모델로 바꿨는가?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 5.27] 라멘 구간 모델링도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4736592" cy="2313432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safety_model_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81600"/>
            <a:ext cx="4663440" cy="19117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82219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 5.28] 경계조건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466344" y="4005072"/>
            <a:ext cx="4736592" cy="2130552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1" name="Image 1" descr="/mnt/data/revised_assets/safety_boundary_f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98" y="4041648"/>
            <a:ext cx="4246685" cy="2057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532120" y="1417320"/>
            <a:ext cx="297180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532120" y="1417320"/>
            <a:ext cx="64008" cy="86868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0" y="149961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 요소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뻗은 거더·기둥 → 축력·전단력·휨모멘트 중심으로 계산</a:t>
            </a:r>
            <a:endParaRPr lang="en-US" sz="1230" dirty="0"/>
          </a:p>
        </p:txBody>
      </p:sp>
      <p:sp>
        <p:nvSpPr>
          <p:cNvPr id="15" name="Shape 11"/>
          <p:cNvSpPr/>
          <p:nvPr/>
        </p:nvSpPr>
        <p:spPr>
          <a:xfrm>
            <a:off x="8732520" y="1417320"/>
            <a:ext cx="274320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732520" y="1417320"/>
            <a:ext cx="64008" cy="86868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869680" y="149961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Plate 요소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슬래브·벽체 → 판으로 힘을 분산하는 거동 반영</a:t>
            </a:r>
            <a:endParaRPr lang="en-US" sz="1230" dirty="0"/>
          </a:p>
        </p:txBody>
      </p:sp>
      <p:sp>
        <p:nvSpPr>
          <p:cNvPr id="18" name="Shape 14"/>
          <p:cNvSpPr/>
          <p:nvPr/>
        </p:nvSpPr>
        <p:spPr>
          <a:xfrm>
            <a:off x="5532120" y="2606040"/>
            <a:ext cx="5943600" cy="777240"/>
          </a:xfrm>
          <a:prstGeom prst="roundRect">
            <a:avLst>
              <a:gd name="adj" fmla="val 12941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532120" y="2606040"/>
            <a:ext cx="64008" cy="77724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0" y="2688336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경계조건 ① 기존 벽체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롤러조건: 받치는 힘은 전달하지만 특정 이동·회전 허용</a:t>
            </a:r>
            <a:endParaRPr lang="en-US" sz="1220" dirty="0"/>
          </a:p>
        </p:txBody>
      </p:sp>
      <p:sp>
        <p:nvSpPr>
          <p:cNvPr id="21" name="Shape 17"/>
          <p:cNvSpPr/>
          <p:nvPr/>
        </p:nvSpPr>
        <p:spPr>
          <a:xfrm>
            <a:off x="5532120" y="3566160"/>
            <a:ext cx="5943600" cy="777240"/>
          </a:xfrm>
          <a:prstGeom prst="roundRect">
            <a:avLst>
              <a:gd name="adj" fmla="val 12941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532120" y="3566160"/>
            <a:ext cx="64008" cy="77724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69280" y="3648456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경계조건 ② 신설 벽체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강결: 상부슬래브와 일체 거동, 연결부에서 모멘트 전달</a:t>
            </a:r>
            <a:endParaRPr lang="en-US" sz="1220" dirty="0"/>
          </a:p>
        </p:txBody>
      </p:sp>
      <p:sp>
        <p:nvSpPr>
          <p:cNvPr id="24" name="Shape 20"/>
          <p:cNvSpPr/>
          <p:nvPr/>
        </p:nvSpPr>
        <p:spPr>
          <a:xfrm>
            <a:off x="5532120" y="4526280"/>
            <a:ext cx="594360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532120" y="4526280"/>
            <a:ext cx="6400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69280" y="4608576"/>
            <a:ext cx="5715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경계조건 ③ 기초 상단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고정단: 해석상 이동과 회전을 구속. 기초 자체 성능 검증과는 별개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532120" y="5687568"/>
            <a:ext cx="5943600" cy="475488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하중이어도 연결·지지조건이 달라지면 부재력이 달라진다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제5장 안전성평가 PDF 49~50쪽, 그림 5.27·5.28</a:t>
            </a:r>
            <a:endParaRPr lang="en-US" sz="6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계산모델에 어떤 하중을 얼마나 넣었는가?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포장하중 산정 부분 확대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4005072" cy="2267712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load_calc_formu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861" y="1417320"/>
            <a:ext cx="3212038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7581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DB-18·온도하중 조건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466344" y="3941064"/>
            <a:ext cx="4005072" cy="2313432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1" name="Image 1" descr="/mnt/data/revised_assets/load_vehicle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596" y="3977640"/>
            <a:ext cx="2404567" cy="22402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00600" y="1417320"/>
            <a:ext cx="320040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00600" y="1417320"/>
            <a:ext cx="64008" cy="68580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37760" y="14996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구조물 자중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단면·재료를 이용해 프로그램에서 계산</a:t>
            </a:r>
            <a:endParaRPr lang="en-US" sz="1220" dirty="0"/>
          </a:p>
        </p:txBody>
      </p:sp>
      <p:sp>
        <p:nvSpPr>
          <p:cNvPr id="15" name="Shape 11"/>
          <p:cNvSpPr/>
          <p:nvPr/>
        </p:nvSpPr>
        <p:spPr>
          <a:xfrm>
            <a:off x="4800600" y="2267712"/>
            <a:ext cx="320040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00600" y="2267712"/>
            <a:ext cx="64008" cy="86868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37760" y="235000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포장하중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조사 두께 0.140m × 단위중량 23.0kN/m³ = 3.22kN/m²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4800600" y="3310128"/>
            <a:ext cx="3200400" cy="777240"/>
          </a:xfrm>
          <a:prstGeom prst="roundRect">
            <a:avLst>
              <a:gd name="adj" fmla="val 12941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00600" y="3310128"/>
            <a:ext cx="64008" cy="77724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37760" y="339242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차량하중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DB-18 표준트럭: 앞축 36kN, 뒤축 144kN+144kN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800600" y="4251960"/>
            <a:ext cx="3200400" cy="777240"/>
          </a:xfrm>
          <a:prstGeom prst="roundRect">
            <a:avLst>
              <a:gd name="adj" fmla="val 12941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00600" y="4251960"/>
            <a:ext cx="64008" cy="77724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37760" y="433425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온도하중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변화가 강결·고정조건에 의해 구속되면 내부력이 발생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549640" y="1874520"/>
            <a:ext cx="2103120" cy="548640"/>
          </a:xfrm>
          <a:prstGeom prst="rect">
            <a:avLst/>
          </a:prstGeom>
          <a:solidFill>
            <a:srgbClr val="EAF4FC"/>
          </a:solidFill>
          <a:ln w="12700">
            <a:solidFill>
              <a:srgbClr val="E9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하중 Input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9601200" y="2423160"/>
            <a:ext cx="0" cy="59436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26" name="Text 22"/>
          <p:cNvSpPr/>
          <p:nvPr/>
        </p:nvSpPr>
        <p:spPr>
          <a:xfrm>
            <a:off x="8549640" y="3017520"/>
            <a:ext cx="2103120" cy="548640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구조해석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9601200" y="3566160"/>
            <a:ext cx="0" cy="59436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28" name="Text 24"/>
          <p:cNvSpPr/>
          <p:nvPr/>
        </p:nvSpPr>
        <p:spPr>
          <a:xfrm>
            <a:off x="8549640" y="4160520"/>
            <a:ext cx="2103120" cy="548640"/>
          </a:xfrm>
          <a:prstGeom prst="rect">
            <a:avLst/>
          </a:prstGeom>
          <a:solidFill>
            <a:srgbClr val="EAF4FC"/>
          </a:solidFill>
          <a:ln w="12700">
            <a:solidFill>
              <a:srgbClr val="1A8A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부재력 Output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4800600" y="5596128"/>
            <a:ext cx="5852160" cy="502920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조사값·설계기준·환경조건을 구조해석 입력값으로 변환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제5장 안전성평가 PDF 47~48쪽, 하중산정</a:t>
            </a:r>
            <a:endParaRPr lang="en-US" sz="6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하중이 만든 부재력: 같은 보라도 위치별 요구량이 다르다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5.40] 극한 단면력 요약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4965192" cy="290779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member_force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97685"/>
            <a:ext cx="4892040" cy="267391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97880" y="2011680"/>
            <a:ext cx="4389120" cy="0"/>
          </a:xfrm>
          <a:prstGeom prst="line">
            <a:avLst/>
          </a:prstGeom>
          <a:noFill/>
          <a:ln w="76200">
            <a:solidFill>
              <a:srgbClr val="4A556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10800000">
            <a:off x="5806440" y="2057400"/>
            <a:ext cx="365760" cy="320040"/>
          </a:xfrm>
          <a:prstGeom prst="triangl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10800000">
            <a:off x="9921240" y="2057400"/>
            <a:ext cx="365760" cy="320040"/>
          </a:xfrm>
          <a:prstGeom prst="triangl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18120" y="1234440"/>
            <a:ext cx="457200" cy="640080"/>
          </a:xfrm>
          <a:prstGeom prst="downArrow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3720" y="2423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 283.135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326880" y="2423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지점부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 704.911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23560" y="3246120"/>
            <a:ext cx="571500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23560" y="3246120"/>
            <a:ext cx="64008" cy="86868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328416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부재력의 뜻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하중 때문에 부재 단면 내부에 생기는 힘과 모멘트. 즉 해당 위치가 감당해야 하는 요구량이다.</a:t>
            </a:r>
            <a:endParaRPr lang="en-US" sz="1270" dirty="0"/>
          </a:p>
        </p:txBody>
      </p:sp>
      <p:sp>
        <p:nvSpPr>
          <p:cNvPr id="18" name="Shape 15"/>
          <p:cNvSpPr/>
          <p:nvPr/>
        </p:nvSpPr>
        <p:spPr>
          <a:xfrm>
            <a:off x="5623560" y="4297680"/>
            <a:ext cx="237744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23560" y="4297680"/>
            <a:ext cx="64008" cy="68580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437997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하중조합·계수를 반영한 검토용 요구 휨모멘트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8275320" y="4297680"/>
            <a:ext cx="3063240" cy="960120"/>
          </a:xfrm>
          <a:prstGeom prst="roundRect">
            <a:avLst>
              <a:gd name="adj" fmla="val 1047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75320" y="4297680"/>
            <a:ext cx="6400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0" y="437997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전 단계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704.911이라는 숫자만으로 안전/위험을 정하지 않는다. 다음 장에서 같은 단면의 설계저항과 비교한다.</a:t>
            </a:r>
            <a:endParaRPr lang="en-US" sz="1180" dirty="0"/>
          </a:p>
        </p:txBody>
      </p:sp>
      <p:sp>
        <p:nvSpPr>
          <p:cNvPr id="24" name="Text 21"/>
          <p:cNvSpPr/>
          <p:nvPr/>
        </p:nvSpPr>
        <p:spPr>
          <a:xfrm>
            <a:off x="5623560" y="5577840"/>
            <a:ext cx="5715000" cy="502920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Mu(요구)와 φMn(저항)을 비교한다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제5장 안전성평가 PDF 54쪽, 표 5.40</a:t>
            </a:r>
            <a:endParaRPr lang="en-US" sz="6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보가 요구되는 휨모멘트를 견딜 수 있는가?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5.41] 휨강도 검토 확대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5148072" cy="4965192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bending_strength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07927"/>
            <a:ext cx="5074920" cy="27108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97880" y="1554480"/>
            <a:ext cx="2240280" cy="777240"/>
          </a:xfrm>
          <a:prstGeom prst="rect">
            <a:avLst/>
          </a:prstGeom>
          <a:solidFill>
            <a:srgbClr val="EAF4FC"/>
          </a:solidFill>
          <a:ln w="12700">
            <a:solidFill>
              <a:srgbClr val="E9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Mu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704.911 kN·m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75320" y="1700784"/>
            <a:ext cx="502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915400" y="1554480"/>
            <a:ext cx="2331720" cy="777240"/>
          </a:xfrm>
          <a:prstGeom prst="rect">
            <a:avLst/>
          </a:prstGeom>
          <a:solidFill>
            <a:srgbClr val="EAF4FC"/>
          </a:solidFill>
          <a:ln w="12700">
            <a:solidFill>
              <a:srgbClr val="1A8A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저항 φMn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727.431 kN·m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897880" y="2788920"/>
            <a:ext cx="5349240" cy="594360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S.F = 727.431 / 704.911 = 1.032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897880" y="3657600"/>
            <a:ext cx="2514600" cy="822960"/>
          </a:xfrm>
          <a:prstGeom prst="roundRect">
            <a:avLst>
              <a:gd name="adj" fmla="val 1222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97880" y="3657600"/>
            <a:ext cx="64008" cy="82296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3739896"/>
            <a:ext cx="2286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1이 기준인가?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저항/요구 &gt; 1 → 만족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저항/요구 &lt; 1 → 부족</a:t>
            </a:r>
            <a:endParaRPr lang="en-US" sz="1260" dirty="0"/>
          </a:p>
        </p:txBody>
      </p:sp>
      <p:sp>
        <p:nvSpPr>
          <p:cNvPr id="16" name="Shape 13"/>
          <p:cNvSpPr/>
          <p:nvPr/>
        </p:nvSpPr>
        <p:spPr>
          <a:xfrm>
            <a:off x="8732520" y="3657600"/>
            <a:ext cx="2514600" cy="502920"/>
          </a:xfrm>
          <a:prstGeom prst="roundRect">
            <a:avLst>
              <a:gd name="adj" fmla="val 200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32520" y="3657600"/>
            <a:ext cx="64008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0" y="37398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1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1.032는 해당 위치·하중조합의 검토값이다.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8732520" y="4297680"/>
            <a:ext cx="2514600" cy="658368"/>
          </a:xfrm>
          <a:prstGeom prst="roundRect">
            <a:avLst>
              <a:gd name="adj" fmla="val 15278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32520" y="4297680"/>
            <a:ext cx="6400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9680" y="4379976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2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차량을 3.2% 더 올리면 붕괴한다는 뜻이 아니다.</a:t>
            </a:r>
            <a:endParaRPr lang="en-US" sz="1160" dirty="0"/>
          </a:p>
        </p:txBody>
      </p:sp>
      <p:sp>
        <p:nvSpPr>
          <p:cNvPr id="22" name="Shape 19"/>
          <p:cNvSpPr/>
          <p:nvPr/>
        </p:nvSpPr>
        <p:spPr>
          <a:xfrm>
            <a:off x="5897880" y="5257800"/>
            <a:ext cx="5349240" cy="749808"/>
          </a:xfrm>
          <a:prstGeom prst="roundRect">
            <a:avLst>
              <a:gd name="adj" fmla="val 13415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97880" y="5257800"/>
            <a:ext cx="64008" cy="749808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0" y="5340096"/>
            <a:ext cx="512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안전성평가와의 관계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값 하나로 전체 a가 결정된 것이 아니다. 여러 부재와 여러 검토항목 결과를 종합한다.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제5장 안전성평가 PDF 54쪽, 표 5.41</a:t>
            </a:r>
            <a:endParaRPr lang="en-US" sz="6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재하시험: 계산모델과 실제 구조물의 반응을 비교한다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5.37] 재하시험 결과 요약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4919472" cy="4965192"/>
          </a:xfrm>
          <a:prstGeom prst="roundRect">
            <a:avLst>
              <a:gd name="adj" fmla="val 111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load_test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27157"/>
            <a:ext cx="4846320" cy="367236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15000" y="1417320"/>
            <a:ext cx="5715000" cy="960120"/>
          </a:xfrm>
          <a:prstGeom prst="roundRect">
            <a:avLst>
              <a:gd name="adj" fmla="val 1047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0" y="1417320"/>
            <a:ext cx="64008" cy="96012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1499616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실제 시험을 하나?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해석모델은 실제 구조의 이상화다. 알려진 하중을 가해 계산한 반응과 실제 반응이 비슷한지 확인한다.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715000" y="2697480"/>
            <a:ext cx="1554480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15000" y="2697480"/>
            <a:ext cx="1554480" cy="73152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42432" y="2807208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처짐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0.812mm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52360" y="2697480"/>
            <a:ext cx="1920240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52360" y="2697480"/>
            <a:ext cx="1920240" cy="7315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79792" y="280720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충격계수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0.300 ↔ 0.297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646920" y="2697480"/>
            <a:ext cx="1828800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46920" y="2697480"/>
            <a:ext cx="1828800" cy="73152"/>
          </a:xfrm>
          <a:prstGeom prst="rect">
            <a:avLst/>
          </a:prstGeom>
          <a:solidFill>
            <a:srgbClr val="0B63B5"/>
          </a:solidFill>
          <a:ln w="12700">
            <a:solidFill>
              <a:srgbClr val="0B63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74352" y="2807208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고유진동수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14.354 ↔ 15.7~16.6Hz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715000" y="3840480"/>
            <a:ext cx="5715000" cy="100584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15000" y="3840480"/>
            <a:ext cx="64008" cy="100584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3922776"/>
            <a:ext cx="5486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비교의 의미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충격계수는 계산 적용값보다 작고, 고유진동수도 유사한 범위로 평가되어 해석모델의 적정성을 판단하는 근거가 된다.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5715000" y="5074920"/>
            <a:ext cx="5715000" cy="777240"/>
          </a:xfrm>
          <a:prstGeom prst="roundRect">
            <a:avLst>
              <a:gd name="adj" fmla="val 12941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15000" y="5074920"/>
            <a:ext cx="64008" cy="77724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0" y="515721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연결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재하시험 결과는 단순 확인에서 끝나지 않고 응답보정계수로 공용내하력 평가에 다시 반영된다.</a:t>
            </a:r>
            <a:endParaRPr lang="en-US" sz="1220" dirty="0"/>
          </a:p>
        </p:txBody>
      </p:sp>
      <p:sp>
        <p:nvSpPr>
          <p:cNvPr id="27" name="Shape 24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제5장 안전성평가 PDF 45~46쪽, 표 5.37·5.38</a:t>
            </a:r>
            <a:endParaRPr lang="en-US" sz="6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내하력평가: 재하시험 결과를 반영해 기준 차량하중 능력을 본다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5.45] 공용내하율 산정 결과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4919472" cy="4965192"/>
          </a:xfrm>
          <a:prstGeom prst="roundRect">
            <a:avLst>
              <a:gd name="adj" fmla="val 111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rating_factor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07765"/>
            <a:ext cx="4846320" cy="33111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15000" y="1417320"/>
            <a:ext cx="2743200" cy="914400"/>
          </a:xfrm>
          <a:prstGeom prst="roundRect">
            <a:avLst>
              <a:gd name="adj" fmla="val 110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0" y="1417320"/>
            <a:ext cx="64008" cy="91440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1499616"/>
            <a:ext cx="2514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기본내하율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구조해석을 바탕으로 계산한 기준 차량하중 대비 능력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1.413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732520" y="1417320"/>
            <a:ext cx="2743200" cy="914400"/>
          </a:xfrm>
          <a:prstGeom prst="roundRect">
            <a:avLst>
              <a:gd name="adj" fmla="val 110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32520" y="1417320"/>
            <a:ext cx="64008" cy="91440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0" y="1499616"/>
            <a:ext cx="2514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응답보정계수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재하시험과 해석의 차이를 반영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0.936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715000" y="2697480"/>
            <a:ext cx="5760720" cy="594360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1.413 × 0.936 = 1.323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989320" y="3886200"/>
            <a:ext cx="5029200" cy="0"/>
          </a:xfrm>
          <a:prstGeom prst="line">
            <a:avLst/>
          </a:prstGeom>
          <a:noFill/>
          <a:ln w="25400">
            <a:solidFill>
              <a:srgbClr val="C7D4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55280" y="3749040"/>
            <a:ext cx="0" cy="27432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3800" y="40416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DB-18 기준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189720" y="3776472"/>
            <a:ext cx="182880" cy="182880"/>
          </a:xfrm>
          <a:prstGeom prst="ellipse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15400" y="3493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1.323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15000" y="4617720"/>
            <a:ext cx="576072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15000" y="4617720"/>
            <a:ext cx="64008" cy="68580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4700016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공용내하율 1 이상 → 보고서 기준 차량하중 DB-18 이상의 내하력을 확보한 것으로 평가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715000" y="5486400"/>
            <a:ext cx="5760720" cy="566928"/>
          </a:xfrm>
          <a:prstGeom prst="roundRect">
            <a:avLst>
              <a:gd name="adj" fmla="val 1774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15000" y="5486400"/>
            <a:ext cx="6400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0" y="5568696"/>
            <a:ext cx="5532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1.323은 실제 차량중량을 32.3% 증량해도 된다는 뜻이 아니다. 제5장 본문 표 5.45 기준값이다.</a:t>
            </a:r>
            <a:endParaRPr lang="en-US" sz="1130" dirty="0"/>
          </a:p>
        </p:txBody>
      </p:sp>
      <p:sp>
        <p:nvSpPr>
          <p:cNvPr id="27" name="Shape 24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제5장 안전성평가 PDF 56~57쪽, 표 5.44·5.45</a:t>
            </a:r>
            <a:endParaRPr lang="en-US" sz="6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차량하중을 견뎌도 왜 지진은 다시 평가해야 하는가?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내진성능평가 용어정의 일부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3913632" cy="4965192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seismic_term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75229"/>
            <a:ext cx="3840480" cy="25762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00600" y="1600200"/>
            <a:ext cx="2011680" cy="457200"/>
          </a:xfrm>
          <a:prstGeom prst="rect">
            <a:avLst/>
          </a:prstGeom>
          <a:solidFill>
            <a:srgbClr val="EAF4FC"/>
          </a:solidFill>
          <a:ln w="12700">
            <a:solidFill>
              <a:srgbClr val="1A8A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차량하중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77840" y="2148840"/>
            <a:ext cx="457200" cy="640080"/>
          </a:xfrm>
          <a:prstGeom prst="downArrow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2880360"/>
            <a:ext cx="2468880" cy="457200"/>
          </a:xfrm>
          <a:prstGeom prst="rect">
            <a:avLst/>
          </a:prstGeom>
          <a:solidFill>
            <a:srgbClr val="EAF4FC"/>
          </a:solidFill>
          <a:ln w="12700">
            <a:solidFill>
              <a:srgbClr val="1A8A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위에서 누르는 하중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63840" y="1600200"/>
            <a:ext cx="2011680" cy="457200"/>
          </a:xfrm>
          <a:prstGeom prst="rect">
            <a:avLst/>
          </a:prstGeom>
          <a:solidFill>
            <a:srgbClr val="EAF4FC"/>
          </a:solidFill>
          <a:ln w="12700">
            <a:solidFill>
              <a:srgbClr val="E9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지진하중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818120" y="2377440"/>
            <a:ext cx="2103120" cy="411480"/>
          </a:xfrm>
          <a:prstGeom prst="leftRightArrow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2880360"/>
            <a:ext cx="2468880" cy="457200"/>
          </a:xfrm>
          <a:prstGeom prst="rect">
            <a:avLst/>
          </a:prstGeom>
          <a:solidFill>
            <a:srgbClr val="EAF4FC"/>
          </a:solidFill>
          <a:ln w="12700">
            <a:solidFill>
              <a:srgbClr val="E9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지반운동 + 관성력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41280" y="2103120"/>
            <a:ext cx="1188720" cy="548640"/>
          </a:xfrm>
          <a:prstGeom prst="rect">
            <a:avLst/>
          </a:prstGeom>
          <a:solidFill>
            <a:srgbClr val="F2F8FE"/>
          </a:solidFill>
          <a:ln w="13970">
            <a:solidFill>
              <a:srgbClr val="C039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= m × a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800600" y="3840480"/>
            <a:ext cx="662940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00600" y="3840480"/>
            <a:ext cx="64008" cy="86868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3922776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질문 비교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안전성평가: 요구 부재력 vs 부재내력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내진성능평가: 소요성능 vs 보유성능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00600" y="4983480"/>
            <a:ext cx="6629400" cy="566928"/>
          </a:xfrm>
          <a:prstGeom prst="rect">
            <a:avLst/>
          </a:prstGeom>
          <a:solidFill>
            <a:srgbClr val="F2F8FE"/>
          </a:solidFill>
          <a:ln w="13970">
            <a:solidFill>
              <a:srgbClr val="C039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안전율 1 이상 ≠ 내진성능 자동 확보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800600" y="5715000"/>
            <a:ext cx="6629400" cy="438912"/>
          </a:xfrm>
          <a:prstGeom prst="roundRect">
            <a:avLst>
              <a:gd name="adj" fmla="val 2291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5715000"/>
            <a:ext cx="64008" cy="438912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0" y="57972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그렇다면 어느 정도 지진에서 어떤 성능을 목표로 볼 것인가?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제6장 내진성능평가 PDF 3쪽, 용어정의</a:t>
            </a:r>
            <a:endParaRPr lang="en-US" sz="6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내진 평가조건: 어느 지진에, 어떤 성능을 볼 것인가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6.2.2 평가조건 확대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4873752" cy="4965192"/>
          </a:xfrm>
          <a:prstGeom prst="roundRect">
            <a:avLst>
              <a:gd name="adj" fmla="val 1126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seismic_condition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30279"/>
            <a:ext cx="4800600" cy="22661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23560" y="1417320"/>
            <a:ext cx="585216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23560" y="1417320"/>
            <a:ext cx="64008" cy="68580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499616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기준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내진Ⅰ등급교: 적용할 내진 요구수준을 정하는 분류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23560" y="2267712"/>
            <a:ext cx="585216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23560" y="2267712"/>
            <a:ext cx="6400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2350008"/>
            <a:ext cx="5623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성능목표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붕괴방지수준: 설정 지진에서 붕괴 방지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무손상·즉시사용을 뜻하지 않음</a:t>
            </a:r>
            <a:endParaRPr lang="en-US" sz="1230" dirty="0"/>
          </a:p>
        </p:txBody>
      </p:sp>
      <p:sp>
        <p:nvSpPr>
          <p:cNvPr id="15" name="Shape 12"/>
          <p:cNvSpPr/>
          <p:nvPr/>
        </p:nvSpPr>
        <p:spPr>
          <a:xfrm>
            <a:off x="5623560" y="3291840"/>
            <a:ext cx="585216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23560" y="3291840"/>
            <a:ext cx="64008" cy="86868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374136"/>
            <a:ext cx="5623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평가지진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평균재현주기 1,000년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1,000년마다 한 번 발생한다는 뜻이 아님</a:t>
            </a:r>
            <a:endParaRPr lang="en-US" sz="1230" dirty="0"/>
          </a:p>
        </p:txBody>
      </p:sp>
      <p:sp>
        <p:nvSpPr>
          <p:cNvPr id="18" name="Text 15"/>
          <p:cNvSpPr/>
          <p:nvPr/>
        </p:nvSpPr>
        <p:spPr>
          <a:xfrm>
            <a:off x="5623560" y="4407408"/>
            <a:ext cx="5852160" cy="548640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0.11 × 1.4 = 0.154g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623560" y="5138928"/>
            <a:ext cx="5852160" cy="804672"/>
          </a:xfrm>
          <a:prstGeom prst="roundRect">
            <a:avLst>
              <a:gd name="adj" fmla="val 125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23560" y="5138928"/>
            <a:ext cx="64008" cy="804672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5221224"/>
            <a:ext cx="5623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0.154g의 위치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안전/불안전 결과가 아니라, 내진해석에 넣는 수평 지진가속도 입력조건이다.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제6장 내진성능평가 PDF 87쪽, 본문 565쪽</a:t>
            </a:r>
            <a:endParaRPr lang="en-US" sz="6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내진 결과: 요구성능과 보유성능을 비교한다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기둥 C12 연성도 검토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3090672" cy="4965192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seismic_column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63951"/>
            <a:ext cx="3017520" cy="29987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749040" y="11978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벽체 상단부 검토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3712464" y="1380744"/>
            <a:ext cx="3090672" cy="2267712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1" name="Image 1" descr="/mnt/data/revised_assets/seismic_wall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764906"/>
            <a:ext cx="3017520" cy="149938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384962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상세평가 제외 근거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3712464" y="4032504"/>
            <a:ext cx="3090672" cy="2313432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4" name="Image 2" descr="/mnt/data/revised_assets/foundation_limit_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4814373"/>
            <a:ext cx="3017520" cy="74969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995160" y="1417320"/>
            <a:ext cx="4526280" cy="1143000"/>
          </a:xfrm>
          <a:prstGeom prst="roundRect">
            <a:avLst>
              <a:gd name="adj" fmla="val 88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995160" y="1417320"/>
            <a:ext cx="64008" cy="114300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132320" y="1499616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기둥: 변형능력 비교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소요변위연성도 1.000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보유변위연성도 4.320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4.320 / 1.000 = 4.320 → O.K.</a:t>
            </a:r>
            <a:endParaRPr lang="en-US" sz="1240" dirty="0"/>
          </a:p>
        </p:txBody>
      </p:sp>
      <p:sp>
        <p:nvSpPr>
          <p:cNvPr id="18" name="Shape 13"/>
          <p:cNvSpPr/>
          <p:nvPr/>
        </p:nvSpPr>
        <p:spPr>
          <a:xfrm>
            <a:off x="6995160" y="2788920"/>
            <a:ext cx="4526280" cy="1143000"/>
          </a:xfrm>
          <a:prstGeom prst="roundRect">
            <a:avLst>
              <a:gd name="adj" fmla="val 88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95160" y="2788920"/>
            <a:ext cx="64008" cy="114300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132320" y="2871216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벽체: 힘·내력 비교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작용 휨 47.256kN·m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설계강도 170.472kN·m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170.472 / 47.256 ≈ 3.607 → O.K.</a:t>
            </a:r>
            <a:endParaRPr lang="en-US" sz="1240" dirty="0"/>
          </a:p>
        </p:txBody>
      </p:sp>
      <p:sp>
        <p:nvSpPr>
          <p:cNvPr id="21" name="Shape 16"/>
          <p:cNvSpPr/>
          <p:nvPr/>
        </p:nvSpPr>
        <p:spPr>
          <a:xfrm>
            <a:off x="6995160" y="4160520"/>
            <a:ext cx="4526280" cy="914400"/>
          </a:xfrm>
          <a:prstGeom prst="roundRect">
            <a:avLst>
              <a:gd name="adj" fmla="val 110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95160" y="416052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132320" y="4242816"/>
            <a:ext cx="4297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기초는?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준공도서 부족·기초 비노출 등으로 상세 내진성능평가 제외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제외 ≠ 안전 판정</a:t>
            </a:r>
            <a:endParaRPr lang="en-US" sz="1220" dirty="0"/>
          </a:p>
        </p:txBody>
      </p:sp>
      <p:sp>
        <p:nvSpPr>
          <p:cNvPr id="24" name="Text 19"/>
          <p:cNvSpPr/>
          <p:nvPr/>
        </p:nvSpPr>
        <p:spPr>
          <a:xfrm>
            <a:off x="6995160" y="5440680"/>
            <a:ext cx="4526280" cy="566928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평가한 대상과 조건에서 만족했다고 말해야 정확하다</a:t>
            </a:r>
            <a:endParaRPr lang="en-US" sz="1230" dirty="0"/>
          </a:p>
        </p:txBody>
      </p:sp>
      <p:sp>
        <p:nvSpPr>
          <p:cNvPr id="25" name="Shape 20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제6장 PDF 108~110쪽, 표 6.44·6.46 및 기초 평가 본문</a:t>
            </a:r>
            <a:endParaRPr lang="en-US" sz="6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내진 결론은 “어디를 평가했는가”와 함께 읽어야 한다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6.59] 내진평가 실시 여부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5056632" cy="4965192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seismic_scope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52" y="1417320"/>
            <a:ext cx="4922615" cy="4892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06440" y="1417320"/>
            <a:ext cx="534924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417320"/>
            <a:ext cx="64008" cy="68580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49961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직접평가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진단에서 직접 계산·검토한 구조형식과 구간</a:t>
            </a:r>
            <a:endParaRPr lang="en-US" sz="1240" dirty="0"/>
          </a:p>
        </p:txBody>
      </p:sp>
      <p:sp>
        <p:nvSpPr>
          <p:cNvPr id="12" name="Shape 9"/>
          <p:cNvSpPr/>
          <p:nvPr/>
        </p:nvSpPr>
        <p:spPr>
          <a:xfrm>
            <a:off x="5806440" y="2240280"/>
            <a:ext cx="534924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06440" y="2240280"/>
            <a:ext cx="64008" cy="68580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232257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과거결과 활용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정밀안전진단 결과를 참고한 구간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5806440" y="3063240"/>
            <a:ext cx="534924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06440" y="3063240"/>
            <a:ext cx="64008" cy="68580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314553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미실시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진단에서 직접 확인하지 않은 구조형식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5806440" y="4069080"/>
            <a:ext cx="5349240" cy="960120"/>
          </a:xfrm>
          <a:prstGeom prst="roundRect">
            <a:avLst>
              <a:gd name="adj" fmla="val 1047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06440" y="4069080"/>
            <a:ext cx="6400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415137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범위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“내진성능 만족”은 평가한 대상과 조건에서의 결론이다. 미평가 부분까지 확인했다는 뜻이 아니다.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5806440" y="5303520"/>
            <a:ext cx="5349240" cy="658368"/>
          </a:xfrm>
          <a:prstGeom prst="roundRect">
            <a:avLst>
              <a:gd name="adj" fmla="val 15278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06440" y="5303520"/>
            <a:ext cx="64008" cy="658368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5385816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진단으로 연결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미실시·자료 부족 부분은 차기 정밀안전진단에서 우선적으로 검토할 대상으로 기록된다.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제6장 PDF 116~117쪽, 표 6.59 및 결론</a:t>
            </a:r>
            <a:endParaRPr lang="en-US" sz="6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종합평가: 상태평가 b와 안전성평가 a 중 낮은 결과를 적용한다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7.1] 종합평가 결과 확대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5605272" cy="3913632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final_grade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85379"/>
            <a:ext cx="5532120" cy="290436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417320"/>
            <a:ext cx="1920240" cy="658368"/>
          </a:xfrm>
          <a:prstGeom prst="roundRect">
            <a:avLst>
              <a:gd name="adj" fmla="val 15278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417320"/>
            <a:ext cx="64008" cy="658368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1499616"/>
            <a:ext cx="1691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상태평가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0.254 → b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0" y="1417320"/>
            <a:ext cx="2148840" cy="658368"/>
          </a:xfrm>
          <a:prstGeom prst="roundRect">
            <a:avLst>
              <a:gd name="adj" fmla="val 15278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0" y="1417320"/>
            <a:ext cx="64008" cy="658368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81160" y="1499616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안전성평가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S.F 1.00 이상 → 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0" y="2487168"/>
            <a:ext cx="4892040" cy="658368"/>
          </a:xfrm>
          <a:prstGeom prst="rect">
            <a:avLst/>
          </a:prstGeom>
          <a:solidFill>
            <a:srgbClr val="F2F8FE"/>
          </a:solidFill>
          <a:ln w="13970">
            <a:solidFill>
              <a:srgbClr val="C039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평균이 아니라 낮은 결과 적용 → 최종 B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0" y="3474720"/>
            <a:ext cx="4892040" cy="960120"/>
          </a:xfrm>
          <a:prstGeom prst="roundRect">
            <a:avLst>
              <a:gd name="adj" fmla="val 1047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3474720"/>
            <a:ext cx="64008" cy="96012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37960" y="3557016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계산과 구분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공구별 상태점수를 합칠 때는 길이 비중을 적용했다.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완성된 상태평가 b와 안전성평가 a를 비교하는 단계다.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400800" y="4663440"/>
            <a:ext cx="489204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4663440"/>
            <a:ext cx="64008" cy="68580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474573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표기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표에서는 개별 평가는 소문자 a·b, 최종 안전등급은 대문자 B로 표시한다.</a:t>
            </a:r>
            <a:endParaRPr lang="en-US" sz="1210" dirty="0"/>
          </a:p>
        </p:txBody>
      </p:sp>
      <p:sp>
        <p:nvSpPr>
          <p:cNvPr id="22" name="Text 19"/>
          <p:cNvSpPr/>
          <p:nvPr/>
        </p:nvSpPr>
        <p:spPr>
          <a:xfrm>
            <a:off x="6400800" y="5669280"/>
            <a:ext cx="4892040" cy="475488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질문: B등급은 실제로 어떤 상태를 뜻할까?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제7장 PDF 4쪽, 표 7.1</a:t>
            </a:r>
            <a:endParaRPr lang="en-US" sz="6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B등급의 의미: 기능은 유지되지만 일부 보수·관리가 필요하다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7.2] B등급 정의 확대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5650992" cy="1490472"/>
          </a:xfrm>
          <a:prstGeom prst="roundRect">
            <a:avLst>
              <a:gd name="adj" fmla="val 3681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grade_B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31498"/>
            <a:ext cx="5577840" cy="5889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417320"/>
            <a:ext cx="484632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417320"/>
            <a:ext cx="64008" cy="68580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149961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발휘에는 지장이 없음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2267712"/>
            <a:ext cx="484632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2267712"/>
            <a:ext cx="64008" cy="68580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235000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경미한 결함 또는 일부 손상은 존재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3108960"/>
            <a:ext cx="484632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3108960"/>
            <a:ext cx="64008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319125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조치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내구성 증진을 위한 일부 보수와 관찰 필요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3383280"/>
            <a:ext cx="557784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3383280"/>
            <a:ext cx="64008" cy="86868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465576"/>
            <a:ext cx="5349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B ≠ 모든 구간 B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1공구 B / 2공구 C / 3공구 B였지만 길이 비중을 반영해 전체 B가 되었다.</a:t>
            </a:r>
            <a:endParaRPr lang="en-US" sz="1240" dirty="0"/>
          </a:p>
        </p:txBody>
      </p:sp>
      <p:sp>
        <p:nvSpPr>
          <p:cNvPr id="21" name="Shape 18"/>
          <p:cNvSpPr/>
          <p:nvPr/>
        </p:nvSpPr>
        <p:spPr>
          <a:xfrm>
            <a:off x="502920" y="4526280"/>
            <a:ext cx="265176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4526280"/>
            <a:ext cx="64008" cy="86868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4608576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 예시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철근노출 → 방청·단면보수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깊은 균열 → 주입보수</a:t>
            </a:r>
            <a:endParaRPr lang="en-US" sz="1240" dirty="0"/>
          </a:p>
        </p:txBody>
      </p:sp>
      <p:sp>
        <p:nvSpPr>
          <p:cNvPr id="24" name="Shape 21"/>
          <p:cNvSpPr/>
          <p:nvPr/>
        </p:nvSpPr>
        <p:spPr>
          <a:xfrm>
            <a:off x="3429000" y="4526280"/>
            <a:ext cx="265176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429000" y="4526280"/>
            <a:ext cx="6400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66160" y="4608576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보수로 연결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하나로 공법이 결정되는 것이 아니라, 실제 손상의 종류·원인·범위로 돌아가 보수공법을 정한다.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6400800" y="4251960"/>
            <a:ext cx="4846320" cy="640080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등급은 끝이 아니라 보수·유지관리 계획의 출발점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제7장 PDF 5쪽, 표 7.2·7.3</a:t>
            </a:r>
            <a:endParaRPr lang="en-US" sz="67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보고서는 “보강”보다 “보수”를 중심으로 제안했는가?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제8장 보수·보강 방안 개요 문장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5148072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repair_intro_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030" y="1417320"/>
            <a:ext cx="4654699" cy="1965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575304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8.1] 공법 선정 검토사항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466344" y="3758184"/>
            <a:ext cx="5148072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1" name="Image 1" descr="/mnt/data/revised_assets/repair_intro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05" y="3794760"/>
            <a:ext cx="4400550" cy="2514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97880" y="1417320"/>
            <a:ext cx="2606040" cy="960120"/>
          </a:xfrm>
          <a:prstGeom prst="roundRect">
            <a:avLst>
              <a:gd name="adj" fmla="val 1047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897880" y="1417320"/>
            <a:ext cx="64008" cy="96012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35040" y="1499616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 Repair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손상된 부분을 회복하고 열화 진행을 억제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주입보수, 방청, 단면보수</a:t>
            </a:r>
            <a:endParaRPr lang="en-US" sz="1230" dirty="0"/>
          </a:p>
        </p:txBody>
      </p:sp>
      <p:sp>
        <p:nvSpPr>
          <p:cNvPr id="15" name="Shape 11"/>
          <p:cNvSpPr/>
          <p:nvPr/>
        </p:nvSpPr>
        <p:spPr>
          <a:xfrm>
            <a:off x="8823960" y="1417320"/>
            <a:ext cx="2606040" cy="960120"/>
          </a:xfrm>
          <a:prstGeom prst="roundRect">
            <a:avLst>
              <a:gd name="adj" fmla="val 1047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823960" y="1417320"/>
            <a:ext cx="64008" cy="96012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961120" y="1499616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보강 Strengthening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부재의 내력·강성·변형능력을 향상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단면증설, 강판·FRP 보강 등 일반 예시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897880" y="2697480"/>
            <a:ext cx="553212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97880" y="2697480"/>
            <a:ext cx="6400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35040" y="2779776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보고서의 판단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문제는 기준상 크지 않지만 내구성에 영향을 줄 손상이 있어 보수 필요</a:t>
            </a:r>
            <a:endParaRPr lang="en-US" sz="1270" dirty="0"/>
          </a:p>
        </p:txBody>
      </p:sp>
      <p:sp>
        <p:nvSpPr>
          <p:cNvPr id="21" name="Shape 17"/>
          <p:cNvSpPr/>
          <p:nvPr/>
        </p:nvSpPr>
        <p:spPr>
          <a:xfrm>
            <a:off x="5897880" y="3840480"/>
            <a:ext cx="5532120" cy="1097280"/>
          </a:xfrm>
          <a:prstGeom prst="roundRect">
            <a:avLst>
              <a:gd name="adj" fmla="val 91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897880" y="3840480"/>
            <a:ext cx="64008" cy="109728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035040" y="3922776"/>
            <a:ext cx="53035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철근노출 사례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피복 19mm vs 설계 59mm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철근 보호기능 약화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녹 제거·방청·단면보수로 보호층 회복</a:t>
            </a:r>
            <a:endParaRPr lang="en-US" sz="1240" dirty="0"/>
          </a:p>
        </p:txBody>
      </p:sp>
      <p:sp>
        <p:nvSpPr>
          <p:cNvPr id="24" name="Shape 20"/>
          <p:cNvSpPr/>
          <p:nvPr/>
        </p:nvSpPr>
        <p:spPr>
          <a:xfrm>
            <a:off x="5897880" y="5257800"/>
            <a:ext cx="5532120" cy="685800"/>
          </a:xfrm>
          <a:prstGeom prst="roundRect">
            <a:avLst>
              <a:gd name="adj" fmla="val 14667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897880" y="5257800"/>
            <a:ext cx="64008" cy="68580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035040" y="534009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보수와 보강은 주된 목적 기준으로 구분한다. 실제 효과는 일부 겹칠 수 있다.</a:t>
            </a:r>
            <a:endParaRPr lang="en-US" sz="1220" dirty="0"/>
          </a:p>
        </p:txBody>
      </p:sp>
      <p:sp>
        <p:nvSpPr>
          <p:cNvPr id="27" name="Shape 23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제8장 PDF 3쪽, 8.1 및 표 8.1</a:t>
            </a:r>
            <a:endParaRPr lang="en-US" sz="67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균열인데 왜 어떤 곳은 덮고, 어떤 곳은 주입할까?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표면처리공법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2816352" cy="2404872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repair_surfac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80" y="1417320"/>
            <a:ext cx="2571280" cy="2331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9410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균열주입보수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466344" y="4123944"/>
            <a:ext cx="2816352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1" name="Image 1" descr="/mnt/data/revised_assets/repair_injection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94" y="4160520"/>
            <a:ext cx="2198053" cy="1965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11978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공법 적정성 비교표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3483864" y="1380744"/>
            <a:ext cx="2816352" cy="4782312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4" name="Image 2" descr="/mnt/data/revised_assets/repair_crack_table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442896"/>
            <a:ext cx="2743200" cy="265800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629400" y="1417320"/>
            <a:ext cx="4663440" cy="1143000"/>
          </a:xfrm>
          <a:prstGeom prst="roundRect">
            <a:avLst>
              <a:gd name="adj" fmla="val 88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629400" y="1417320"/>
            <a:ext cx="64008" cy="114300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766560" y="1499616"/>
            <a:ext cx="4434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표면처리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0.3mm 미만 미세균열 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표면을 보호하고 외부 수분 유입을 줄임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균열 전체를 채우는 공법은 아님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629400" y="2788920"/>
            <a:ext cx="4663440" cy="1143000"/>
          </a:xfrm>
          <a:prstGeom prst="roundRect">
            <a:avLst>
              <a:gd name="adj" fmla="val 88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629400" y="2788920"/>
            <a:ext cx="64008" cy="114300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766560" y="2871216"/>
            <a:ext cx="4434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주입보수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0.3mm 이상 또는 깊은 균열 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 내부에 보수재를 넣어 통로를 채움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방수성·내구성 확보 목적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629400" y="4160520"/>
            <a:ext cx="4663440" cy="100584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629400" y="4160520"/>
            <a:ext cx="64008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766560" y="4242816"/>
            <a:ext cx="4434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0K304 사례 재사용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0.3mm / 깊이 80.2mm / 피복 72.0mm / 진행성 없음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장기 내구성 확보를 위해 주입보수</a:t>
            </a:r>
            <a:endParaRPr lang="en-US" sz="1180" dirty="0"/>
          </a:p>
        </p:txBody>
      </p:sp>
      <p:sp>
        <p:nvSpPr>
          <p:cNvPr id="24" name="Text 19"/>
          <p:cNvSpPr/>
          <p:nvPr/>
        </p:nvSpPr>
        <p:spPr>
          <a:xfrm>
            <a:off x="6629400" y="5504688"/>
            <a:ext cx="4663440" cy="566928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0.3mm는 기본 구분 중 하나다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폭·깊이·진행성·누수·철근 영향까지 함께 판단</a:t>
            </a:r>
            <a:endParaRPr lang="en-US" sz="1240" dirty="0"/>
          </a:p>
        </p:txBody>
      </p:sp>
      <p:sp>
        <p:nvSpPr>
          <p:cNvPr id="25" name="Shape 20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제8장 PDF 8·11·17쪽, 그림 8.1~8.3 및 표 8.11</a:t>
            </a:r>
            <a:endParaRPr lang="en-US" sz="67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 우선순위: 붕괴 순위가 아니라 시행 순서다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8.2] 우선순위 고려사항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3227832" cy="2404872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repair_priority_criteria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07" y="1417320"/>
            <a:ext cx="3077106" cy="2331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94106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8.3] 보수기한 기준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466344" y="4123944"/>
            <a:ext cx="3227832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1" name="Image 1" descr="/mnt/data/revised_assets/repair_deadline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85" y="4160520"/>
            <a:ext cx="2327350" cy="1965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시간축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069080" y="1901952"/>
            <a:ext cx="960120" cy="777240"/>
          </a:xfrm>
          <a:prstGeom prst="rect">
            <a:avLst/>
          </a:prstGeom>
          <a:solidFill>
            <a:srgbClr val="EAF4FC"/>
          </a:solidFill>
          <a:ln w="12700">
            <a:solidFill>
              <a:srgbClr val="C0392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중대결함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설계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0" y="2295144"/>
            <a:ext cx="137160" cy="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5166360" y="1901952"/>
            <a:ext cx="960120" cy="777240"/>
          </a:xfrm>
          <a:prstGeom prst="rect">
            <a:avLst/>
          </a:prstGeom>
          <a:solidFill>
            <a:srgbClr val="EAF4FC"/>
          </a:solidFill>
          <a:ln w="12700">
            <a:solidFill>
              <a:srgbClr val="E9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내 완료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2295144"/>
            <a:ext cx="137160" cy="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7" name="Text 13"/>
          <p:cNvSpPr/>
          <p:nvPr/>
        </p:nvSpPr>
        <p:spPr>
          <a:xfrm>
            <a:off x="6263640" y="1901952"/>
            <a:ext cx="960120" cy="777240"/>
          </a:xfrm>
          <a:prstGeom prst="rect">
            <a:avLst/>
          </a:prstGeom>
          <a:solidFill>
            <a:srgbClr val="EAF4FC"/>
          </a:solidFill>
          <a:ln w="12700">
            <a:solidFill>
              <a:srgbClr val="0B63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4년 내 완료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223760" y="2295144"/>
            <a:ext cx="137160" cy="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7360920" y="1901952"/>
            <a:ext cx="960120" cy="777240"/>
          </a:xfrm>
          <a:prstGeom prst="rect">
            <a:avLst/>
          </a:prstGeom>
          <a:solidFill>
            <a:srgbClr val="EAF4FC"/>
          </a:solidFill>
          <a:ln w="12700">
            <a:solidFill>
              <a:srgbClr val="1A8A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3순위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연차보수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069080" y="3154680"/>
            <a:ext cx="3840480" cy="1143000"/>
          </a:xfrm>
          <a:prstGeom prst="roundRect">
            <a:avLst>
              <a:gd name="adj" fmla="val 88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069080" y="3154680"/>
            <a:ext cx="64008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206240" y="3236976"/>
            <a:ext cx="3611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해석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1순위보다 위에 “중대결함”이 별도로 있다. 1순위는 붕괴 직전이 아니라 먼저 시행할 보수 항목이다.</a:t>
            </a:r>
            <a:endParaRPr lang="en-US" sz="1160" dirty="0"/>
          </a:p>
        </p:txBody>
      </p:sp>
      <p:sp>
        <p:nvSpPr>
          <p:cNvPr id="23" name="Shape 19"/>
          <p:cNvSpPr/>
          <p:nvPr/>
        </p:nvSpPr>
        <p:spPr>
          <a:xfrm>
            <a:off x="8641080" y="1417320"/>
            <a:ext cx="278892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641080" y="1417320"/>
            <a:ext cx="64008" cy="86868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778240" y="149961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손상 예시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0.3mm 이상 균열, 철근노출부 등은 1순위 항목에 들어갈 수 있다.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641080" y="2514600"/>
            <a:ext cx="2788920" cy="960120"/>
          </a:xfrm>
          <a:prstGeom prst="roundRect">
            <a:avLst>
              <a:gd name="adj" fmla="val 1047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641080" y="2514600"/>
            <a:ext cx="64008" cy="96012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778240" y="2596896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B와 모순 아님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 전체는 B등급이어도 특정 손상은 내구성·사용성 영향 때문에 1순위로 먼저 보수할 수 있다.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8641080" y="3749040"/>
            <a:ext cx="2788920" cy="1143000"/>
          </a:xfrm>
          <a:prstGeom prst="roundRect">
            <a:avLst>
              <a:gd name="adj" fmla="val 8800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641080" y="3749040"/>
            <a:ext cx="64008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778240" y="383133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 표현 수정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“0.3mm 미만 균열=2순위”로 일반화하지 말고, 원문 기준처럼 균열율·손상종류·방치 영향과 함께 설명한다.</a:t>
            </a:r>
            <a:endParaRPr lang="en-US" sz="1140" dirty="0"/>
          </a:p>
        </p:txBody>
      </p:sp>
      <p:sp>
        <p:nvSpPr>
          <p:cNvPr id="32" name="Shape 28"/>
          <p:cNvSpPr/>
          <p:nvPr/>
        </p:nvSpPr>
        <p:spPr>
          <a:xfrm>
            <a:off x="8641080" y="5166360"/>
            <a:ext cx="2788920" cy="713232"/>
          </a:xfrm>
          <a:prstGeom prst="roundRect">
            <a:avLst>
              <a:gd name="adj" fmla="val 14103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641080" y="5166360"/>
            <a:ext cx="64008" cy="713232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778240" y="52486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3순위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기준은 연차보수. 토사퇴적 준설 등은 본 시설물의 실제 사례로 구분해 설명한다.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제8장 PDF 5~6쪽, 표 8.2·8.3 및 세부 기준</a:t>
            </a:r>
            <a:endParaRPr lang="en-US" sz="67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 10.80m가 어떻게 보수비로 바뀌는가?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8.27] 수량 환산 기준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3090672" cy="16733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repair_quantity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536" y="1417320"/>
            <a:ext cx="2300288" cy="1600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118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8.31] 실제 항목별 비용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466344" y="3300984"/>
            <a:ext cx="3090672" cy="16733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1" name="Image 1" descr="/mnt/data/revised_assets/repair_cost_items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06" y="3337560"/>
            <a:ext cx="1717548" cy="160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503834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 8.37] 총공사비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466344" y="5221224"/>
            <a:ext cx="3090672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4" name="Image 2" descr="/mnt/data/revised_assets/repair_cost_total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299" y="5257800"/>
            <a:ext cx="1058762" cy="9601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77640" y="1417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예시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3977640" y="1874520"/>
            <a:ext cx="2926080" cy="566928"/>
          </a:xfrm>
          <a:prstGeom prst="roundRect">
            <a:avLst>
              <a:gd name="adj" fmla="val 1774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977640" y="1874520"/>
            <a:ext cx="64008" cy="566928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114800" y="1956816"/>
            <a:ext cx="2697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손상량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 길이 10.80m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977640" y="2578608"/>
            <a:ext cx="292608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977640" y="2578608"/>
            <a:ext cx="64008" cy="86868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114800" y="2660904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보수면적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10.80m × 0.25m = 2.70m²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표면보수는 균열 주변 폭까지 면으로 처리</a:t>
            </a:r>
            <a:endParaRPr lang="en-US" sz="1180" dirty="0"/>
          </a:p>
        </p:txBody>
      </p:sp>
      <p:sp>
        <p:nvSpPr>
          <p:cNvPr id="22" name="Shape 17"/>
          <p:cNvSpPr/>
          <p:nvPr/>
        </p:nvSpPr>
        <p:spPr>
          <a:xfrm>
            <a:off x="3977640" y="3611880"/>
            <a:ext cx="2926080" cy="960120"/>
          </a:xfrm>
          <a:prstGeom prst="roundRect">
            <a:avLst>
              <a:gd name="adj" fmla="val 10476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977640" y="3611880"/>
            <a:ext cx="6400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114800" y="3694176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할증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2.70 × 1.30 = 3.51m²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 = 실제 손상이 30% 증가했다는 뜻 아님</a:t>
            </a:r>
            <a:endParaRPr lang="en-US" sz="1120" dirty="0"/>
          </a:p>
        </p:txBody>
      </p:sp>
      <p:sp>
        <p:nvSpPr>
          <p:cNvPr id="25" name="Shape 20"/>
          <p:cNvSpPr/>
          <p:nvPr/>
        </p:nvSpPr>
        <p:spPr>
          <a:xfrm>
            <a:off x="3977640" y="4754880"/>
            <a:ext cx="2926080" cy="640080"/>
          </a:xfrm>
          <a:prstGeom prst="roundRect">
            <a:avLst>
              <a:gd name="adj" fmla="val 15714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977640" y="4754880"/>
            <a:ext cx="64008" cy="64008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114800" y="4837176"/>
            <a:ext cx="2697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비용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3.51 × 63,000원 ≈ 221,000원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7406640" y="1645920"/>
            <a:ext cx="3794760" cy="1078992"/>
          </a:xfrm>
          <a:prstGeom prst="roundRect">
            <a:avLst>
              <a:gd name="adj" fmla="val 932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06640" y="1645920"/>
            <a:ext cx="64008" cy="1078992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543800" y="1728216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3,943,702천원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3,943,702,000원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39.44억원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7406640" y="3017520"/>
            <a:ext cx="3794760" cy="1051560"/>
          </a:xfrm>
          <a:prstGeom prst="roundRect">
            <a:avLst>
              <a:gd name="adj" fmla="val 9565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406640" y="3017520"/>
            <a:ext cx="64008" cy="105156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543800" y="3099816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우선순위별 예산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약 33.61억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 약 3.69억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3순위 약 2.14억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406640" y="4434840"/>
            <a:ext cx="3794760" cy="1024128"/>
          </a:xfrm>
          <a:prstGeom prst="roundRect">
            <a:avLst>
              <a:gd name="adj" fmla="val 9821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06640" y="4434840"/>
            <a:ext cx="64008" cy="10241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543800" y="4517136"/>
            <a:ext cx="3566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개략공사비는 예산 계획용 추정값이다. 실시설계·현장여건·단가에 따라 실제 금액은 달라질 수 있다.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제8장 PDF 47·50·55쪽, 표 8.27·8.31·8.37</a:t>
            </a:r>
            <a:endParaRPr lang="en-US" sz="67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유지관리: 보수는 끝이 아니라 다음 진단의 시작이다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 8.17] 유지관리 흐름도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3227832" cy="4965192"/>
          </a:xfrm>
          <a:prstGeom prst="roundRect">
            <a:avLst>
              <a:gd name="adj" fmla="val 1700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maintenance_flow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60666"/>
            <a:ext cx="3154680" cy="36053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1920" y="11978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 반복측정 사례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3895344" y="1380744"/>
            <a:ext cx="2816352" cy="2221992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1" name="Image 1" descr="/mnt/data/revised_assets/maintenance_crack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37" y="1417320"/>
            <a:ext cx="2471166" cy="2148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3758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철근노출 중점관리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3895344" y="3941064"/>
            <a:ext cx="2816352" cy="2130552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4" name="Image 2" descr="/mnt/data/revised_assets/maintenance_rebar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288" y="3977640"/>
            <a:ext cx="2096465" cy="20574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995160" y="1417320"/>
            <a:ext cx="4480560" cy="822960"/>
          </a:xfrm>
          <a:prstGeom prst="roundRect">
            <a:avLst>
              <a:gd name="adj" fmla="val 1222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995160" y="1417320"/>
            <a:ext cx="64008" cy="822960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132320" y="1499616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루프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점검·조사 → 손상 발견 → 원인·진행 판단 → 보수 → 다시 점검</a:t>
            </a:r>
            <a:endParaRPr lang="en-US" sz="1270" dirty="0"/>
          </a:p>
        </p:txBody>
      </p:sp>
      <p:sp>
        <p:nvSpPr>
          <p:cNvPr id="18" name="Shape 13"/>
          <p:cNvSpPr/>
          <p:nvPr/>
        </p:nvSpPr>
        <p:spPr>
          <a:xfrm>
            <a:off x="6995160" y="2487168"/>
            <a:ext cx="448056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95160" y="2487168"/>
            <a:ext cx="64008" cy="86868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132320" y="2569464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 추적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위치를 반복 측정한다. 예: 0.3 → 0.3 → 0.3mm라면 이번 조사기간에는 변동 없음.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995160" y="3584448"/>
            <a:ext cx="448056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95160" y="3584448"/>
            <a:ext cx="6400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132320" y="3666744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철근노출 추적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2공구 STA.3,300~3,390m 같은 구간은 보수 후 재박리·부식·들뜸을 관찰한다.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995160" y="4709160"/>
            <a:ext cx="4480560" cy="868680"/>
          </a:xfrm>
          <a:prstGeom prst="roundRect">
            <a:avLst>
              <a:gd name="adj" fmla="val 11579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995160" y="4709160"/>
            <a:ext cx="64008" cy="868680"/>
          </a:xfrm>
          <a:prstGeom prst="rect">
            <a:avLst/>
          </a:prstGeom>
          <a:solidFill>
            <a:srgbClr val="1A8A5B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132320" y="4791456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자료관리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+ 사진 + 측정값 + 보수이력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진단의 비교 기준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6995160" y="5806440"/>
            <a:ext cx="4480560" cy="429768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있어야 “같은 위치가 달라졌는가?”를 판단할 수 있다</a:t>
            </a:r>
            <a:endParaRPr lang="en-US" sz="1170" dirty="0"/>
          </a:p>
        </p:txBody>
      </p:sp>
      <p:sp>
        <p:nvSpPr>
          <p:cNvPr id="28" name="Shape 23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제8장 PDF 59·83~84쪽, 그림 8.17 및 중점 유지관리 항목</a:t>
            </a:r>
            <a:endParaRPr lang="en-US" sz="67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B등급이어도 상태가 그대로라는 뜻은 아니다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978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점검 결과 비교표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66344" y="1380744"/>
            <a:ext cx="3822192" cy="2404872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8" name="Image 0" descr="/mnt/data/revised_assets/grade_history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33" y="1417320"/>
            <a:ext cx="3181415" cy="2331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9410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결함지수 변화 그래프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466344" y="4123944"/>
            <a:ext cx="3822192" cy="2130552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0160">
            <a:solidFill>
              <a:srgbClr val="C7D4E2"/>
            </a:solidFill>
            <a:prstDash val="solid"/>
          </a:ln>
        </p:spPr>
      </p:sp>
      <p:pic>
        <p:nvPicPr>
          <p:cNvPr id="11" name="Image 1" descr="/mnt/data/revised_assets/grade_history_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87924"/>
            <a:ext cx="3749040" cy="20025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1508760"/>
            <a:ext cx="2103120" cy="822960"/>
          </a:xfrm>
          <a:prstGeom prst="rect">
            <a:avLst/>
          </a:prstGeom>
          <a:solidFill>
            <a:srgbClr val="EAF4FC"/>
          </a:solidFill>
          <a:ln>
            <a:solidFill>
              <a:srgbClr val="C7D4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0.246 / B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15200" y="1508760"/>
            <a:ext cx="2103120" cy="822960"/>
          </a:xfrm>
          <a:prstGeom prst="rect">
            <a:avLst/>
          </a:prstGeom>
          <a:solidFill>
            <a:srgbClr val="EAF4FC"/>
          </a:solidFill>
          <a:ln>
            <a:solidFill>
              <a:srgbClr val="C7D4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0.254 / B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829800" y="1645920"/>
            <a:ext cx="1325880" cy="502920"/>
          </a:xfrm>
          <a:prstGeom prst="rect">
            <a:avLst/>
          </a:prstGeom>
          <a:solidFill>
            <a:srgbClr val="F2F8FE"/>
          </a:solidFill>
          <a:ln w="13970">
            <a:solidFill>
              <a:srgbClr val="E96B2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= +0.008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92040" y="2971800"/>
            <a:ext cx="5029200" cy="0"/>
          </a:xfrm>
          <a:prstGeom prst="line">
            <a:avLst/>
          </a:prstGeom>
          <a:noFill/>
          <a:ln w="25400">
            <a:solidFill>
              <a:srgbClr val="C7D4E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92040" y="2834640"/>
            <a:ext cx="0" cy="27432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17720" y="31272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0.13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921240" y="2834640"/>
            <a:ext cx="0" cy="27432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646920" y="31272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0.26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446520" y="2670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B등급 범위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9098280" y="2880360"/>
            <a:ext cx="164592" cy="164592"/>
          </a:xfrm>
          <a:prstGeom prst="ellipse">
            <a:avLst/>
          </a:prstGeom>
          <a:solidFill>
            <a:srgbClr val="0B63B5"/>
          </a:solidFill>
          <a:ln w="12700">
            <a:solidFill>
              <a:srgbClr val="0B63B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32520" y="2468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6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0.246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9509760" y="2880360"/>
            <a:ext cx="164592" cy="164592"/>
          </a:xfrm>
          <a:prstGeom prst="ellipse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189720" y="33101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6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0.254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709160" y="3931920"/>
            <a:ext cx="6492240" cy="822960"/>
          </a:xfrm>
          <a:prstGeom prst="roundRect">
            <a:avLst>
              <a:gd name="adj" fmla="val 1222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09160" y="3931920"/>
            <a:ext cx="64008" cy="822960"/>
          </a:xfrm>
          <a:prstGeom prst="rect">
            <a:avLst/>
          </a:prstGeom>
          <a:solidFill>
            <a:srgbClr val="E96B2C"/>
          </a:solidFill>
          <a:ln w="12700">
            <a:solidFill>
              <a:srgbClr val="E96B2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46320" y="4014216"/>
            <a:ext cx="6263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B 범위에 있으므로 등급은 유지된다. 그러나 점수는 증가했으므로 같은 상태라고 단정할 수 없다.</a:t>
            </a:r>
            <a:endParaRPr lang="en-US" sz="1270" dirty="0"/>
          </a:p>
        </p:txBody>
      </p:sp>
      <p:sp>
        <p:nvSpPr>
          <p:cNvPr id="28" name="Shape 24"/>
          <p:cNvSpPr/>
          <p:nvPr/>
        </p:nvSpPr>
        <p:spPr>
          <a:xfrm>
            <a:off x="4709160" y="5010912"/>
            <a:ext cx="6492240" cy="822960"/>
          </a:xfrm>
          <a:prstGeom prst="roundRect">
            <a:avLst>
              <a:gd name="adj" fmla="val 1222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09160" y="5010912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46320" y="5093208"/>
            <a:ext cx="6263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차이만으로 특정 손상의 진행을 단정할 수는 없다. 같은 위치의 손상, 보수이력, 조사조건을 함께 봐야 한다.</a:t>
            </a:r>
            <a:endParaRPr lang="en-US" sz="1220" dirty="0"/>
          </a:p>
        </p:txBody>
      </p:sp>
      <p:sp>
        <p:nvSpPr>
          <p:cNvPr id="31" name="Text 27"/>
          <p:cNvSpPr/>
          <p:nvPr/>
        </p:nvSpPr>
        <p:spPr>
          <a:xfrm>
            <a:off x="4709160" y="6035040"/>
            <a:ext cx="6492240" cy="393192"/>
          </a:xfrm>
          <a:prstGeom prst="rect">
            <a:avLst/>
          </a:prstGeom>
          <a:solidFill>
            <a:srgbClr val="F2F8FE"/>
          </a:solidFill>
          <a:ln w="13970">
            <a:solidFill>
              <a:srgbClr val="004A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유지관리는 등급뿐 아니라 점수·손상·이력의 변화를 함께 추적하는 과정</a:t>
            </a:r>
            <a:endParaRPr lang="en-US" sz="1170" dirty="0"/>
          </a:p>
        </p:txBody>
      </p:sp>
      <p:sp>
        <p:nvSpPr>
          <p:cNvPr id="32" name="Shape 28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7620">
            <a:solidFill>
              <a:srgbClr val="C7D4E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11480" y="64922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제7장 PDF 6쪽, 표 7.4 및 제4장 PDF 18쪽, 표 4.25</a:t>
            </a:r>
            <a:endParaRPr lang="en-US" sz="67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1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4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청계천복개(좌안) 정밀안전진단 판단 과정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이 보고서는 “손상 발견 → 판단 → 조치”의 연결이다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1384280" cy="0"/>
          </a:xfrm>
          <a:prstGeom prst="line">
            <a:avLst/>
          </a:prstGeom>
          <a:noFill/>
          <a:ln w="10160">
            <a:solidFill>
              <a:srgbClr val="C7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94760" y="1143000"/>
            <a:ext cx="4572000" cy="530352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자료수집·현장조사·시험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17720" y="1673352"/>
            <a:ext cx="-1371600" cy="704088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80760" y="1673352"/>
            <a:ext cx="0" cy="704088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43800" y="1673352"/>
            <a:ext cx="1371600" cy="704088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103120" y="2395728"/>
            <a:ext cx="2148840" cy="786384"/>
          </a:xfrm>
          <a:prstGeom prst="rect">
            <a:avLst/>
          </a:prstGeom>
          <a:solidFill>
            <a:srgbClr val="EAF4FC"/>
          </a:solidFill>
          <a:ln w="12700">
            <a:solidFill>
              <a:srgbClr val="E9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상태평가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0.254 → 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0912" y="2395728"/>
            <a:ext cx="2148840" cy="786384"/>
          </a:xfrm>
          <a:prstGeom prst="rect">
            <a:avLst/>
          </a:prstGeom>
          <a:solidFill>
            <a:srgbClr val="EAF4FC"/>
          </a:solidFill>
          <a:ln w="12700">
            <a:solidFill>
              <a:srgbClr val="1A8A5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안전성평가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09560" y="2395728"/>
            <a:ext cx="2148840" cy="786384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내진성능평가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평가대상 만족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82112" y="3182112"/>
            <a:ext cx="1572768" cy="64008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3182112"/>
            <a:ext cx="0" cy="64008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389120" y="3840480"/>
            <a:ext cx="3383280" cy="621792"/>
          </a:xfrm>
          <a:prstGeom prst="rect">
            <a:avLst/>
          </a:prstGeom>
          <a:solidFill>
            <a:srgbClr val="EAF4FC"/>
          </a:solidFill>
          <a:ln w="12700">
            <a:solidFill>
              <a:srgbClr val="C0392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종합평가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b + 안전성 a → 낮은 결과 적용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80760" y="4462272"/>
            <a:ext cx="0" cy="429768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754880" y="4892040"/>
            <a:ext cx="2651760" cy="530352"/>
          </a:xfrm>
          <a:prstGeom prst="rect">
            <a:avLst/>
          </a:prstGeom>
          <a:solidFill>
            <a:srgbClr val="EAF4FC"/>
          </a:solidFill>
          <a:ln w="12700">
            <a:solidFill>
              <a:srgbClr val="C0392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안전등급 B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784080" y="3182112"/>
            <a:ext cx="0" cy="64008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458200" y="3840480"/>
            <a:ext cx="2651760" cy="822960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판단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내진보강 필요 여부·미평가 범위 기록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18120" y="4736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내진성능평가는 최종 안전등급 B 산정에 평균·합산하지 않음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5422392"/>
            <a:ext cx="0" cy="32004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84080" y="4663440"/>
            <a:ext cx="-1965960" cy="1078992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160520" y="5742432"/>
            <a:ext cx="3840480" cy="402336"/>
          </a:xfrm>
          <a:prstGeom prst="rect">
            <a:avLst/>
          </a:prstGeom>
          <a:solidFill>
            <a:srgbClr val="EAF4FC"/>
          </a:solidFill>
          <a:ln w="12700">
            <a:solidFill>
              <a:srgbClr val="E9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손상별 보수·우선순위·예산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01000" y="5943600"/>
            <a:ext cx="731520" cy="0"/>
          </a:xfrm>
          <a:prstGeom prst="line">
            <a:avLst/>
          </a:prstGeom>
          <a:noFill/>
          <a:ln w="15240">
            <a:solidFill>
              <a:srgbClr val="91A4B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778240" y="5742432"/>
            <a:ext cx="2560320" cy="402336"/>
          </a:xfrm>
          <a:prstGeom prst="rect">
            <a:avLst/>
          </a:prstGeom>
          <a:solidFill>
            <a:srgbClr val="EAF4FC"/>
          </a:solidFill>
          <a:ln w="12700">
            <a:solidFill>
              <a:srgbClr val="004A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유지관리·기록 → 다음 진단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3063240" cy="1170432"/>
          </a:xfrm>
          <a:prstGeom prst="roundRect">
            <a:avLst>
              <a:gd name="adj" fmla="val 8594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892040"/>
            <a:ext cx="64008" cy="1170432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974336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결론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검토한 대상과 조건에서 구조적 안전성 기준은 만족했지만, 균열·철근노출 등 손상에 대한 보수와 지속적인 관리가 필요하여 최종 B등급으로 평가되었다.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640080" y="2395728"/>
            <a:ext cx="1188720" cy="2084832"/>
          </a:xfrm>
          <a:prstGeom prst="roundRect">
            <a:avLst>
              <a:gd name="adj" fmla="val 8462"/>
            </a:avLst>
          </a:prstGeom>
          <a:solidFill>
            <a:srgbClr val="F7FBFF"/>
          </a:solidFill>
          <a:ln w="10160">
            <a:solidFill>
              <a:srgbClr val="C7D4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2395728"/>
            <a:ext cx="64008" cy="20848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2478024"/>
            <a:ext cx="960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이해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 발견, 구조적 내력 부족, 보수공법 선정은 서로 다른 판단이다. 구분한 뒤 연결해야 한다.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청계천복개(좌안) 정밀안전진단 판단 과정 v2</dc:title>
  <dc:subject>청계천복개(좌안) 정밀안전진단 발표자료</dc:subject>
  <dc:creator>OpenAI</dc:creator>
  <cp:lastModifiedBy>OpenAI</cp:lastModifiedBy>
  <cp:revision>1</cp:revision>
  <dcterms:created xsi:type="dcterms:W3CDTF">2026-09-22T13:57:54Z</dcterms:created>
  <dcterms:modified xsi:type="dcterms:W3CDTF">2026-09-22T13:57:54Z</dcterms:modified>
</cp:coreProperties>
</file>